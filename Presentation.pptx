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 id="214748367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Play"/>
      <p:regular r:id="rId21"/>
      <p:bold r:id="rId22"/>
    </p:embeddedFon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Open Sans ExtraBold"/>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07EEA3-9909-4C56-A132-E5CE716D7B9E}">
  <a:tblStyle styleId="{DB07EEA3-9909-4C56-A132-E5CE716D7B9E}" styleName="Table_0">
    <a:wholeTbl>
      <a:tcTxStyle>
        <a:font>
          <a:latin typeface="Arial"/>
          <a:ea typeface="Arial"/>
          <a:cs typeface="Arial"/>
        </a:font>
        <a:srgbClr val="000000"/>
      </a:tcTxStyle>
      <a:tcStyle>
        <a:tcBdr>
          <a:left>
            <a:ln cap="flat" cmpd="sng" w="9525">
              <a:solidFill>
                <a:srgbClr val="DDDDDD"/>
              </a:solidFill>
              <a:prstDash val="solid"/>
              <a:round/>
              <a:headEnd len="sm" w="sm" type="none"/>
              <a:tailEnd len="sm" w="sm" type="none"/>
            </a:ln>
          </a:left>
          <a:right>
            <a:ln cap="flat" cmpd="sng" w="9525">
              <a:solidFill>
                <a:srgbClr val="DDDDDD"/>
              </a:solidFill>
              <a:prstDash val="solid"/>
              <a:round/>
              <a:headEnd len="sm" w="sm" type="none"/>
              <a:tailEnd len="sm" w="sm" type="none"/>
            </a:ln>
          </a:right>
          <a:top>
            <a:ln cap="flat" cmpd="sng" w="9525">
              <a:solidFill>
                <a:srgbClr val="DDDDDD"/>
              </a:solidFill>
              <a:prstDash val="solid"/>
              <a:round/>
              <a:headEnd len="sm" w="sm" type="none"/>
              <a:tailEnd len="sm" w="sm" type="none"/>
            </a:ln>
          </a:top>
          <a:bottom>
            <a:ln cap="flat" cmpd="sng" w="9525">
              <a:solidFill>
                <a:srgbClr val="DDDDDD"/>
              </a:solidFill>
              <a:prstDash val="solid"/>
              <a:round/>
              <a:headEnd len="sm" w="sm" type="none"/>
              <a:tailEnd len="sm" w="sm" type="none"/>
            </a:ln>
          </a:bottom>
          <a:insideH>
            <a:ln cap="flat" cmpd="sng" w="9525">
              <a:solidFill>
                <a:srgbClr val="DDDDDD"/>
              </a:solidFill>
              <a:prstDash val="solid"/>
              <a:round/>
              <a:headEnd len="sm" w="sm" type="none"/>
              <a:tailEnd len="sm" w="sm" type="none"/>
            </a:ln>
          </a:insideH>
          <a:insideV>
            <a:ln cap="flat" cmpd="sng" w="9525">
              <a:solidFill>
                <a:srgbClr val="DDDDDD"/>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Play-bold.fntdata"/><Relationship Id="rId21" Type="http://schemas.openxmlformats.org/officeDocument/2006/relationships/font" Target="fonts/Play-regular.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PlayfairDisplay-bold.fntdata"/><Relationship Id="rId27" Type="http://schemas.openxmlformats.org/officeDocument/2006/relationships/font" Target="fonts/PlayfairDisplay-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layfairDisplay-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OpenSansExtraBold-bold.fntdata"/><Relationship Id="rId30" Type="http://schemas.openxmlformats.org/officeDocument/2006/relationships/font" Target="fonts/PlayfairDisplay-boldItalic.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OpenSansExtraBold-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82417d48e_4_1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82417d48e_4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82417d48e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82417d48e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82417d48e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82417d48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82417d48e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82417d48e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82417d48e_9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82417d48e_9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8606c44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8606c44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8606c44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d8606c44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82417d48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d82417d48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869c47a1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869c47a1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82417d48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d82417d48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Now that we've built and implemented the full pipeline, we can simulate the entire system.</a:t>
            </a:r>
            <a:endParaRPr/>
          </a:p>
          <a:p>
            <a:pPr indent="0" lvl="0" marL="0" rtl="0" algn="l">
              <a:lnSpc>
                <a:spcPct val="115000"/>
              </a:lnSpc>
              <a:spcBef>
                <a:spcPts val="1200"/>
              </a:spcBef>
              <a:spcAft>
                <a:spcPts val="0"/>
              </a:spcAft>
              <a:buNone/>
            </a:pPr>
            <a:r>
              <a:rPr lang="en"/>
              <a:t>In the bottom left terminal, we give the robot a command — 'Go to the blue box.'</a:t>
            </a:r>
            <a:r>
              <a:rPr lang="en">
                <a:solidFill>
                  <a:schemeClr val="dk1"/>
                </a:solidFill>
              </a:rPr>
              <a:t>  On the top right is the occupancy map with blue box marked and we can watch the robot navigate to it in Gazebo.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 the bottom right terminal, we can see the system working — the mission controller sends the target location to Nav2. The navigation completes once robot is within 0.25 meters of target location.</a:t>
            </a:r>
            <a:br>
              <a:rPr lang="en"/>
            </a:br>
            <a:br>
              <a:rPr lang="en"/>
            </a:br>
            <a:r>
              <a:rPr lang="en"/>
              <a:t>Here you can see another example for the command Go to the green cylinder, and the same process follows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037e82f7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037e82f7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“So those examples show the system working end-to-end. But to go beyond visual results, we evaluate its accuracy and reliability using our experimentation script.”</a:t>
            </a:r>
            <a:endParaRPr/>
          </a:p>
          <a:p>
            <a:pPr indent="0" lvl="0" marL="0" rtl="0" algn="l">
              <a:lnSpc>
                <a:spcPct val="115000"/>
              </a:lnSpc>
              <a:spcBef>
                <a:spcPts val="1200"/>
              </a:spcBef>
              <a:spcAft>
                <a:spcPts val="0"/>
              </a:spcAft>
              <a:buClr>
                <a:schemeClr val="dk1"/>
              </a:buClr>
              <a:buSzPts val="1100"/>
              <a:buFont typeface="Arial"/>
              <a:buNone/>
            </a:pPr>
            <a:r>
              <a:rPr lang="en"/>
              <a:t>For localization</a:t>
            </a:r>
            <a:r>
              <a:rPr lang="en"/>
              <a:t>, Average error within 0.5m is observed. Causes include depth noise and bounding box misalignment. DINO confidence is moderate since it wasn't trained on Gazebo shapes.</a:t>
            </a:r>
            <a:endParaRPr/>
          </a:p>
          <a:p>
            <a:pPr indent="0" lvl="0" marL="0" rtl="0" algn="l">
              <a:lnSpc>
                <a:spcPct val="115000"/>
              </a:lnSpc>
              <a:spcBef>
                <a:spcPts val="1200"/>
              </a:spcBef>
              <a:spcAft>
                <a:spcPts val="0"/>
              </a:spcAft>
              <a:buNone/>
            </a:pPr>
            <a:r>
              <a:rPr lang="en"/>
              <a:t>Additionally, we tested 5 commands for existing objects. Since all objects are detected, all tests pass. </a:t>
            </a:r>
            <a:endParaRPr/>
          </a:p>
          <a:p>
            <a:pPr indent="0" lvl="0" marL="0" rtl="0" algn="l">
              <a:lnSpc>
                <a:spcPct val="115000"/>
              </a:lnSpc>
              <a:spcBef>
                <a:spcPts val="1200"/>
              </a:spcBef>
              <a:spcAft>
                <a:spcPts val="1200"/>
              </a:spcAft>
              <a:buNone/>
            </a:pPr>
            <a:r>
              <a:rPr lang="en"/>
              <a:t>And 5 for non-existent objects, such as green box,  most fail because the keyword matching sends the robot to the closest label instead of rejecting it. Thus the Overall accuracy of the system 60% with an average error around 0.3m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82417d48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d82417d48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 wrap up — we showed that you can give a robot a plain English command and it will navigate to the target.</a:t>
            </a:r>
            <a:endParaRPr/>
          </a:p>
          <a:p>
            <a:pPr indent="0" lvl="0" marL="0" rtl="0" algn="l">
              <a:lnSpc>
                <a:spcPct val="115000"/>
              </a:lnSpc>
              <a:spcBef>
                <a:spcPts val="1200"/>
              </a:spcBef>
              <a:spcAft>
                <a:spcPts val="0"/>
              </a:spcAft>
              <a:buClr>
                <a:schemeClr val="dk1"/>
              </a:buClr>
              <a:buSzPts val="1100"/>
              <a:buFont typeface="Arial"/>
              <a:buNone/>
            </a:pPr>
            <a:r>
              <a:rPr lang="en"/>
              <a:t>With more observations  the </a:t>
            </a:r>
            <a:r>
              <a:rPr lang="en"/>
              <a:t>perceived object location</a:t>
            </a:r>
            <a:r>
              <a:rPr lang="en"/>
              <a:t> converge closer to the true position. The main limitation is that The system is good at finding objects, but bad at rejecting objects that do not exist in the environment.</a:t>
            </a:r>
            <a:endParaRPr/>
          </a:p>
          <a:p>
            <a:pPr indent="0" lvl="0" marL="0" rtl="0" algn="l">
              <a:lnSpc>
                <a:spcPct val="115000"/>
              </a:lnSpc>
              <a:spcBef>
                <a:spcPts val="1200"/>
              </a:spcBef>
              <a:spcAft>
                <a:spcPts val="0"/>
              </a:spcAft>
              <a:buClr>
                <a:schemeClr val="dk1"/>
              </a:buClr>
              <a:buSzPts val="1100"/>
              <a:buFont typeface="Arial"/>
              <a:buNone/>
            </a:pPr>
            <a:r>
              <a:rPr lang="en"/>
              <a:t>For future work — the most immediate fix is strict label matching so the system rejects what it hasn't seen. We'd also like to try a detector suitable for simple geometric shapes. Also, we can compare our Cartographer-based approach against other methods like particle filtering or EKF that would help us understand the tradeoffs in localization accuracy. And finally, testing on a real robot would validate whether this pipeline holds outside simulation."</a:t>
            </a:r>
            <a:endParaRPr/>
          </a:p>
          <a:p>
            <a:pPr indent="0" lvl="0" marL="0" rtl="0" algn="l">
              <a:spcBef>
                <a:spcPts val="1200"/>
              </a:spcBef>
              <a:spcAft>
                <a:spcPts val="0"/>
              </a:spcAft>
              <a:buNone/>
            </a:pPr>
            <a:r>
              <a:t/>
            </a:r>
            <a:endParaRPr/>
          </a:p>
          <a:p>
            <a:pPr indent="0" lvl="0" marL="0" rtl="0" algn="l">
              <a:spcBef>
                <a:spcPts val="0"/>
              </a:spcBef>
              <a:spcAft>
                <a:spcPts val="0"/>
              </a:spcAft>
              <a:buNone/>
            </a:pPr>
            <a:r>
              <a:rPr lang="en"/>
              <a:t>And that wraps up our project. Thank you.</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869c47a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d869c47a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 Id="rId3"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 Id="rId3"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9" name="Shape 59"/>
        <p:cNvGrpSpPr/>
        <p:nvPr/>
      </p:nvGrpSpPr>
      <p:grpSpPr>
        <a:xfrm>
          <a:off x="0" y="0"/>
          <a:ext cx="0" cy="0"/>
          <a:chOff x="0" y="0"/>
          <a:chExt cx="0" cy="0"/>
        </a:xfrm>
      </p:grpSpPr>
      <p:pic>
        <p:nvPicPr>
          <p:cNvPr descr="A blue and yellow diamond shaped sign&#10;&#10;Description automatically generated" id="60" name="Google Shape;60;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1" name="Google Shape;61;p14"/>
          <p:cNvSpPr txBox="1"/>
          <p:nvPr>
            <p:ph type="ctrTitle"/>
          </p:nvPr>
        </p:nvSpPr>
        <p:spPr>
          <a:xfrm>
            <a:off x="869950" y="832843"/>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5400"/>
              <a:buFont typeface="Open Sans ExtraBold"/>
              <a:buNone/>
              <a:defRPr b="1" sz="5400">
                <a:solidFill>
                  <a:schemeClr val="lt1"/>
                </a:solidFill>
                <a:latin typeface="Open Sans ExtraBold"/>
                <a:ea typeface="Open Sans ExtraBold"/>
                <a:cs typeface="Open Sans ExtraBold"/>
                <a:sym typeface="Open Sans Extra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4"/>
          <p:cNvSpPr txBox="1"/>
          <p:nvPr>
            <p:ph idx="1" type="subTitle"/>
          </p:nvPr>
        </p:nvSpPr>
        <p:spPr>
          <a:xfrm>
            <a:off x="869950" y="2692599"/>
            <a:ext cx="68580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1"/>
              </a:buClr>
              <a:buSzPts val="2100"/>
              <a:buNone/>
              <a:defRPr b="1" sz="2100">
                <a:solidFill>
                  <a:schemeClr val="lt1"/>
                </a:solidFill>
                <a:latin typeface="Open Sans ExtraBold"/>
                <a:ea typeface="Open Sans ExtraBold"/>
                <a:cs typeface="Open Sans ExtraBold"/>
                <a:sym typeface="Open Sans ExtraBold"/>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3" name="Google Shape;63;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66" name="Google Shape;66;p14"/>
          <p:cNvPicPr preferRelativeResize="0"/>
          <p:nvPr/>
        </p:nvPicPr>
        <p:blipFill rotWithShape="1">
          <a:blip r:embed="rId3">
            <a:alphaModFix/>
          </a:blip>
          <a:srcRect b="0" l="0" r="0" t="0"/>
          <a:stretch/>
        </p:blipFill>
        <p:spPr>
          <a:xfrm>
            <a:off x="285750" y="218281"/>
            <a:ext cx="1924050" cy="198140"/>
          </a:xfrm>
          <a:prstGeom prst="rect">
            <a:avLst/>
          </a:prstGeom>
          <a:noFill/>
          <a:ln>
            <a:noFill/>
          </a:ln>
        </p:spPr>
      </p:pic>
      <p:cxnSp>
        <p:nvCxnSpPr>
          <p:cNvPr id="67" name="Google Shape;67;p14"/>
          <p:cNvCxnSpPr/>
          <p:nvPr/>
        </p:nvCxnSpPr>
        <p:spPr>
          <a:xfrm>
            <a:off x="565685" y="2569769"/>
            <a:ext cx="6471900" cy="2100"/>
          </a:xfrm>
          <a:prstGeom prst="straightConnector1">
            <a:avLst/>
          </a:prstGeom>
          <a:noFill/>
          <a:ln cap="flat" cmpd="sng" w="7150">
            <a:solidFill>
              <a:srgbClr val="FFCD09"/>
            </a:solidFill>
            <a:prstDash val="solid"/>
            <a:miter lim="800000"/>
            <a:headEnd len="sm" w="sm" type="none"/>
            <a:tailEnd len="sm" w="sm" type="none"/>
          </a:ln>
        </p:spPr>
      </p:cxnSp>
      <p:pic>
        <p:nvPicPr>
          <p:cNvPr descr="A blue and yellow diamond shaped sign&#10;&#10;Description automatically generated" id="68" name="Google Shape;68;p1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69" name="Google Shape;69;p14"/>
          <p:cNvPicPr preferRelativeResize="0"/>
          <p:nvPr/>
        </p:nvPicPr>
        <p:blipFill rotWithShape="1">
          <a:blip r:embed="rId3">
            <a:alphaModFix/>
          </a:blip>
          <a:srcRect b="0" l="0" r="0" t="0"/>
          <a:stretch/>
        </p:blipFill>
        <p:spPr>
          <a:xfrm>
            <a:off x="285750" y="218281"/>
            <a:ext cx="1924050" cy="198140"/>
          </a:xfrm>
          <a:prstGeom prst="rect">
            <a:avLst/>
          </a:prstGeom>
          <a:noFill/>
          <a:ln>
            <a:noFill/>
          </a:ln>
        </p:spPr>
      </p:pic>
      <p:cxnSp>
        <p:nvCxnSpPr>
          <p:cNvPr id="70" name="Google Shape;70;p14"/>
          <p:cNvCxnSpPr/>
          <p:nvPr/>
        </p:nvCxnSpPr>
        <p:spPr>
          <a:xfrm>
            <a:off x="565685" y="2569769"/>
            <a:ext cx="6471900" cy="2100"/>
          </a:xfrm>
          <a:prstGeom prst="straightConnector1">
            <a:avLst/>
          </a:prstGeom>
          <a:noFill/>
          <a:ln cap="flat" cmpd="sng" w="7150">
            <a:solidFill>
              <a:srgbClr val="FFCD09"/>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1" name="Shape 71"/>
        <p:cNvGrpSpPr/>
        <p:nvPr/>
      </p:nvGrpSpPr>
      <p:grpSpPr>
        <a:xfrm>
          <a:off x="0" y="0"/>
          <a:ext cx="0" cy="0"/>
          <a:chOff x="0" y="0"/>
          <a:chExt cx="0" cy="0"/>
        </a:xfrm>
      </p:grpSpPr>
      <p:sp>
        <p:nvSpPr>
          <p:cNvPr id="72" name="Google Shape;72;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4" name="Google Shape;74;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7"/>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SzPts val="2100"/>
              <a:buChar char="•"/>
              <a:defRPr/>
            </a:lvl1pPr>
            <a:lvl2pPr indent="-342900" lvl="1" marL="914400" algn="l">
              <a:lnSpc>
                <a:spcPct val="90000"/>
              </a:lnSpc>
              <a:spcBef>
                <a:spcPts val="400"/>
              </a:spcBef>
              <a:spcAft>
                <a:spcPts val="0"/>
              </a:spcAft>
              <a:buSzPts val="1800"/>
              <a:buChar char="•"/>
              <a:defRPr/>
            </a:lvl2pPr>
            <a:lvl3pPr indent="-323850" lvl="2" marL="1371600" algn="l">
              <a:lnSpc>
                <a:spcPct val="90000"/>
              </a:lnSpc>
              <a:spcBef>
                <a:spcPts val="400"/>
              </a:spcBef>
              <a:spcAft>
                <a:spcPts val="0"/>
              </a:spcAft>
              <a:buSzPts val="1500"/>
              <a:buChar char="•"/>
              <a:defRPr/>
            </a:lvl3pPr>
            <a:lvl4pPr indent="-317500" lvl="3" marL="1828800" algn="l">
              <a:lnSpc>
                <a:spcPct val="90000"/>
              </a:lnSpc>
              <a:spcBef>
                <a:spcPts val="400"/>
              </a:spcBef>
              <a:spcAft>
                <a:spcPts val="0"/>
              </a:spcAft>
              <a:buSzPts val="1400"/>
              <a:buChar char="•"/>
              <a:defRPr/>
            </a:lvl4pPr>
            <a:lvl5pPr indent="-317500" lvl="4" marL="2286000" algn="l">
              <a:lnSpc>
                <a:spcPct val="90000"/>
              </a:lnSpc>
              <a:spcBef>
                <a:spcPts val="400"/>
              </a:spcBef>
              <a:spcAft>
                <a:spcPts val="0"/>
              </a:spcAft>
              <a:buSzPts val="14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84" name="Google Shape;84;p17"/>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5" name="Shape 85"/>
        <p:cNvGrpSpPr/>
        <p:nvPr/>
      </p:nvGrpSpPr>
      <p:grpSpPr>
        <a:xfrm>
          <a:off x="0" y="0"/>
          <a:ext cx="0" cy="0"/>
          <a:chOff x="0" y="0"/>
          <a:chExt cx="0" cy="0"/>
        </a:xfrm>
      </p:grpSpPr>
      <p:sp>
        <p:nvSpPr>
          <p:cNvPr id="86" name="Google Shape;86;p1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8"/>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88" name="Google Shape;88;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 name="Google Shape;90;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6" name="Shape 96"/>
        <p:cNvGrpSpPr/>
        <p:nvPr/>
      </p:nvGrpSpPr>
      <p:grpSpPr>
        <a:xfrm>
          <a:off x="0" y="0"/>
          <a:ext cx="0" cy="0"/>
          <a:chOff x="0" y="0"/>
          <a:chExt cx="0" cy="0"/>
        </a:xfrm>
      </p:grpSpPr>
      <p:sp>
        <p:nvSpPr>
          <p:cNvPr id="97" name="Google Shape;97;p2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 name="Google Shape;99;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01" name="Google Shape;101;p20"/>
          <p:cNvCxnSpPr/>
          <p:nvPr/>
        </p:nvCxnSpPr>
        <p:spPr>
          <a:xfrm>
            <a:off x="-448400" y="1076333"/>
            <a:ext cx="10040700" cy="0"/>
          </a:xfrm>
          <a:prstGeom prst="straightConnector1">
            <a:avLst/>
          </a:prstGeom>
          <a:noFill/>
          <a:ln cap="flat" cmpd="sng" w="7150">
            <a:solidFill>
              <a:srgbClr val="FFCD06"/>
            </a:solidFill>
            <a:prstDash val="solid"/>
            <a:miter lim="800000"/>
            <a:headEnd len="sm" w="sm" type="none"/>
            <a:tailEnd len="sm" w="sm" type="none"/>
          </a:ln>
        </p:spPr>
      </p:cxnSp>
      <p:sp>
        <p:nvSpPr>
          <p:cNvPr id="102" name="Google Shape;102;p20"/>
          <p:cNvSpPr txBox="1"/>
          <p:nvPr>
            <p:ph type="title"/>
          </p:nvPr>
        </p:nvSpPr>
        <p:spPr>
          <a:xfrm>
            <a:off x="628650" y="645320"/>
            <a:ext cx="7886700" cy="4311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00274C"/>
              </a:buClr>
              <a:buSzPts val="2400"/>
              <a:buFont typeface="Playfair Display"/>
              <a:buNone/>
              <a:defRPr b="0" sz="2400">
                <a:solidFill>
                  <a:srgbClr val="00274C"/>
                </a:solidFill>
                <a:latin typeface="Playfair Display"/>
                <a:ea typeface="Playfair Display"/>
                <a:cs typeface="Playfair Display"/>
                <a:sym typeface="Playfair Dis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21"/>
          <p:cNvSpPr txBox="1"/>
          <p:nvPr>
            <p:ph type="title"/>
          </p:nvPr>
        </p:nvSpPr>
        <p:spPr>
          <a:xfrm>
            <a:off x="628650" y="888604"/>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 type="body"/>
          </p:nvPr>
        </p:nvSpPr>
        <p:spPr>
          <a:xfrm>
            <a:off x="628650" y="3048398"/>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106" name="Google Shape;106;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22"/>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3" name="Google Shape;113;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2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19" name="Google Shape;119;p23"/>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2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1" name="Google Shape;121;p23"/>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5" name="Shape 125"/>
        <p:cNvGrpSpPr/>
        <p:nvPr/>
      </p:nvGrpSpPr>
      <p:grpSpPr>
        <a:xfrm>
          <a:off x="0" y="0"/>
          <a:ext cx="0" cy="0"/>
          <a:chOff x="0" y="0"/>
          <a:chExt cx="0" cy="0"/>
        </a:xfrm>
      </p:grpSpPr>
      <p:sp>
        <p:nvSpPr>
          <p:cNvPr id="126" name="Google Shape;126;p24"/>
          <p:cNvSpPr txBox="1"/>
          <p:nvPr>
            <p:ph type="title"/>
          </p:nvPr>
        </p:nvSpPr>
        <p:spPr>
          <a:xfrm>
            <a:off x="628650" y="75009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30" name="Google Shape;130;p24"/>
          <p:cNvCxnSpPr/>
          <p:nvPr/>
        </p:nvCxnSpPr>
        <p:spPr>
          <a:xfrm>
            <a:off x="-20183" y="506195"/>
            <a:ext cx="9164100" cy="0"/>
          </a:xfrm>
          <a:prstGeom prst="straightConnector1">
            <a:avLst/>
          </a:prstGeom>
          <a:noFill/>
          <a:ln cap="flat" cmpd="sng" w="7150">
            <a:solidFill>
              <a:srgbClr val="FFCD06"/>
            </a:solidFill>
            <a:prstDash val="solid"/>
            <a:miter lim="800000"/>
            <a:headEnd len="sm" w="sm" type="none"/>
            <a:tailEnd len="sm" w="sm" type="none"/>
          </a:ln>
        </p:spPr>
      </p:cxnSp>
      <p:sp>
        <p:nvSpPr>
          <p:cNvPr id="131" name="Google Shape;131;p24"/>
          <p:cNvSpPr txBox="1"/>
          <p:nvPr>
            <p:ph idx="1" type="body"/>
          </p:nvPr>
        </p:nvSpPr>
        <p:spPr>
          <a:xfrm>
            <a:off x="3143647" y="102393"/>
            <a:ext cx="4857300" cy="403800"/>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rgbClr val="00274C"/>
              </a:buClr>
              <a:buSzPts val="2400"/>
              <a:buNone/>
              <a:defRPr b="0" sz="2400">
                <a:solidFill>
                  <a:srgbClr val="00274C"/>
                </a:solidFill>
                <a:latin typeface="Playfair Display"/>
                <a:ea typeface="Playfair Display"/>
                <a:cs typeface="Playfair Display"/>
                <a:sym typeface="Playfair Display"/>
              </a:defRPr>
            </a:lvl1pPr>
            <a:lvl2pPr indent="-228600" lvl="1" marL="914400" algn="l">
              <a:lnSpc>
                <a:spcPct val="90000"/>
              </a:lnSpc>
              <a:spcBef>
                <a:spcPts val="400"/>
              </a:spcBef>
              <a:spcAft>
                <a:spcPts val="0"/>
              </a:spcAft>
              <a:buClr>
                <a:schemeClr val="dk1"/>
              </a:buClr>
              <a:buSzPts val="18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2" name="Shape 132"/>
        <p:cNvGrpSpPr/>
        <p:nvPr/>
      </p:nvGrpSpPr>
      <p:grpSpPr>
        <a:xfrm>
          <a:off x="0" y="0"/>
          <a:ext cx="0" cy="0"/>
          <a:chOff x="0" y="0"/>
          <a:chExt cx="0" cy="0"/>
        </a:xfrm>
      </p:grpSpPr>
      <p:sp>
        <p:nvSpPr>
          <p:cNvPr id="133" name="Google Shape;133;p25"/>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25"/>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35" name="Google Shape;135;p25"/>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36" name="Google Shape;136;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 name="Google Shape;138;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9" name="Shape 139"/>
        <p:cNvGrpSpPr/>
        <p:nvPr/>
      </p:nvGrpSpPr>
      <p:grpSpPr>
        <a:xfrm>
          <a:off x="0" y="0"/>
          <a:ext cx="0" cy="0"/>
          <a:chOff x="0" y="0"/>
          <a:chExt cx="0" cy="0"/>
        </a:xfrm>
      </p:grpSpPr>
      <p:sp>
        <p:nvSpPr>
          <p:cNvPr id="140" name="Google Shape;140;p26"/>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6"/>
          <p:cNvSpPr/>
          <p:nvPr>
            <p:ph idx="2" type="pic"/>
          </p:nvPr>
        </p:nvSpPr>
        <p:spPr>
          <a:xfrm>
            <a:off x="3887391" y="740569"/>
            <a:ext cx="4629300" cy="3655200"/>
          </a:xfrm>
          <a:prstGeom prst="rect">
            <a:avLst/>
          </a:prstGeom>
          <a:noFill/>
          <a:ln>
            <a:noFill/>
          </a:ln>
        </p:spPr>
      </p:sp>
      <p:sp>
        <p:nvSpPr>
          <p:cNvPr id="142" name="Google Shape;142;p26"/>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43" name="Google Shape;143;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 name="Google Shape;144;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27"/>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1" name="Google Shape;151;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2" name="Shape 152"/>
        <p:cNvGrpSpPr/>
        <p:nvPr/>
      </p:nvGrpSpPr>
      <p:grpSpPr>
        <a:xfrm>
          <a:off x="0" y="0"/>
          <a:ext cx="0" cy="0"/>
          <a:chOff x="0" y="0"/>
          <a:chExt cx="0" cy="0"/>
        </a:xfrm>
      </p:grpSpPr>
      <p:sp>
        <p:nvSpPr>
          <p:cNvPr id="153" name="Google Shape;153;p28"/>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28"/>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58" name="Shape 158"/>
        <p:cNvGrpSpPr/>
        <p:nvPr/>
      </p:nvGrpSpPr>
      <p:grpSpPr>
        <a:xfrm>
          <a:off x="0" y="0"/>
          <a:ext cx="0" cy="0"/>
          <a:chOff x="0" y="0"/>
          <a:chExt cx="0" cy="0"/>
        </a:xfrm>
      </p:grpSpPr>
      <p:pic>
        <p:nvPicPr>
          <p:cNvPr descr="A blue and yellow diamond shaped sign&#10;&#10;Description automatically generated" id="159" name="Google Shape;159;p2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60" name="Google Shape;160;p29"/>
          <p:cNvSpPr txBox="1"/>
          <p:nvPr>
            <p:ph type="ctrTitle"/>
          </p:nvPr>
        </p:nvSpPr>
        <p:spPr>
          <a:xfrm>
            <a:off x="869950" y="832843"/>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5400"/>
              <a:buFont typeface="Open Sans ExtraBold"/>
              <a:buNone/>
              <a:defRPr b="1" sz="5400">
                <a:solidFill>
                  <a:schemeClr val="lt1"/>
                </a:solidFill>
                <a:latin typeface="Open Sans ExtraBold"/>
                <a:ea typeface="Open Sans ExtraBold"/>
                <a:cs typeface="Open Sans ExtraBold"/>
                <a:sym typeface="Open Sans Extra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1" name="Google Shape;161;p29"/>
          <p:cNvSpPr txBox="1"/>
          <p:nvPr>
            <p:ph idx="1" type="subTitle"/>
          </p:nvPr>
        </p:nvSpPr>
        <p:spPr>
          <a:xfrm>
            <a:off x="869950" y="2692599"/>
            <a:ext cx="68580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1"/>
              </a:buClr>
              <a:buSzPts val="2100"/>
              <a:buNone/>
              <a:defRPr b="1" sz="2100">
                <a:solidFill>
                  <a:schemeClr val="lt1"/>
                </a:solidFill>
                <a:latin typeface="Open Sans ExtraBold"/>
                <a:ea typeface="Open Sans ExtraBold"/>
                <a:cs typeface="Open Sans ExtraBold"/>
                <a:sym typeface="Open Sans ExtraBold"/>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62" name="Google Shape;162;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 name="Google Shape;163;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4" name="Google Shape;164;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65" name="Google Shape;165;p29"/>
          <p:cNvPicPr preferRelativeResize="0"/>
          <p:nvPr/>
        </p:nvPicPr>
        <p:blipFill rotWithShape="1">
          <a:blip r:embed="rId3">
            <a:alphaModFix/>
          </a:blip>
          <a:srcRect b="0" l="0" r="0" t="0"/>
          <a:stretch/>
        </p:blipFill>
        <p:spPr>
          <a:xfrm>
            <a:off x="285750" y="218281"/>
            <a:ext cx="1924050" cy="198140"/>
          </a:xfrm>
          <a:prstGeom prst="rect">
            <a:avLst/>
          </a:prstGeom>
          <a:noFill/>
          <a:ln>
            <a:noFill/>
          </a:ln>
        </p:spPr>
      </p:pic>
      <p:cxnSp>
        <p:nvCxnSpPr>
          <p:cNvPr id="166" name="Google Shape;166;p29"/>
          <p:cNvCxnSpPr/>
          <p:nvPr/>
        </p:nvCxnSpPr>
        <p:spPr>
          <a:xfrm>
            <a:off x="565685" y="2569769"/>
            <a:ext cx="6471900" cy="2100"/>
          </a:xfrm>
          <a:prstGeom prst="straightConnector1">
            <a:avLst/>
          </a:prstGeom>
          <a:noFill/>
          <a:ln cap="flat" cmpd="sng" w="7150">
            <a:solidFill>
              <a:srgbClr val="FFCD09"/>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0.png"/><Relationship Id="rId2" Type="http://schemas.openxmlformats.org/officeDocument/2006/relationships/image" Target="../media/image16.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19" Type="http://schemas.openxmlformats.org/officeDocument/2006/relationships/theme" Target="../theme/theme3.xml"/><Relationship Id="rId6" Type="http://schemas.openxmlformats.org/officeDocument/2006/relationships/slideLayout" Target="../slideLayouts/slideLayout15.xml"/><Relationship Id="rId18" Type="http://schemas.openxmlformats.org/officeDocument/2006/relationships/slideLayout" Target="../slideLayouts/slideLayout27.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6" name="Google Shape;56;p13"/>
          <p:cNvPicPr preferRelativeResize="0"/>
          <p:nvPr/>
        </p:nvPicPr>
        <p:blipFill rotWithShape="1">
          <a:blip r:embed="rId1">
            <a:alphaModFix/>
          </a:blip>
          <a:srcRect b="0" l="0" r="0" t="0"/>
          <a:stretch/>
        </p:blipFill>
        <p:spPr>
          <a:xfrm>
            <a:off x="247389" y="4789971"/>
            <a:ext cx="2438659" cy="251135"/>
          </a:xfrm>
          <a:prstGeom prst="rect">
            <a:avLst/>
          </a:prstGeom>
          <a:noFill/>
          <a:ln>
            <a:noFill/>
          </a:ln>
        </p:spPr>
      </p:pic>
      <p:pic>
        <p:nvPicPr>
          <p:cNvPr id="57" name="Google Shape;57;p13"/>
          <p:cNvPicPr preferRelativeResize="0"/>
          <p:nvPr/>
        </p:nvPicPr>
        <p:blipFill rotWithShape="1">
          <a:blip r:embed="rId2">
            <a:alphaModFix/>
          </a:blip>
          <a:srcRect b="0" l="0" r="0" t="0"/>
          <a:stretch/>
        </p:blipFill>
        <p:spPr>
          <a:xfrm>
            <a:off x="0" y="2110"/>
            <a:ext cx="3037559" cy="517031"/>
          </a:xfrm>
          <a:prstGeom prst="rect">
            <a:avLst/>
          </a:prstGeom>
          <a:noFill/>
          <a:ln>
            <a:noFill/>
          </a:ln>
        </p:spPr>
      </p:pic>
      <p:pic>
        <p:nvPicPr>
          <p:cNvPr id="58" name="Google Shape;58;p13"/>
          <p:cNvPicPr preferRelativeResize="0"/>
          <p:nvPr/>
        </p:nvPicPr>
        <p:blipFill rotWithShape="1">
          <a:blip r:embed="rId2">
            <a:alphaModFix/>
          </a:blip>
          <a:srcRect b="0" l="0" r="0" t="0"/>
          <a:stretch/>
        </p:blipFill>
        <p:spPr>
          <a:xfrm rot="10800000">
            <a:off x="6115051" y="4628599"/>
            <a:ext cx="3037559" cy="5170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drive.google.com/file/d/1MIrpwqUNY46j5aXyMZ5Xcq5q_gCknuLV/view" TargetMode="External"/><Relationship Id="rId4" Type="http://schemas.openxmlformats.org/officeDocument/2006/relationships/image" Target="../media/image9.jpg"/><Relationship Id="rId5" Type="http://schemas.openxmlformats.org/officeDocument/2006/relationships/hyperlink" Target="http://drive.google.com/file/d/1UrNZGiuXyh-UYaUSN_mHIsWSQmsr5d75/view" TargetMode="External"/><Relationship Id="rId6" Type="http://schemas.openxmlformats.org/officeDocument/2006/relationships/image" Target="../media/image7.jpg"/><Relationship Id="rId7" Type="http://schemas.openxmlformats.org/officeDocument/2006/relationships/hyperlink" Target="http://drive.google.com/file/d/1y708xo80ti2UXQcjL7ACzqbC2dVUy2Np/view" TargetMode="External"/><Relationship Id="rId8"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hyperlink" Target="http://drive.google.com/file/d/10OEY7yuAe_vuSXJGGQyZNBkQqd06JADK/view" TargetMode="External"/><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ctrTitle"/>
          </p:nvPr>
        </p:nvSpPr>
        <p:spPr>
          <a:xfrm>
            <a:off x="53700" y="583725"/>
            <a:ext cx="9144000" cy="2236500"/>
          </a:xfrm>
          <a:prstGeom prst="rect">
            <a:avLst/>
          </a:prstGeom>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chemeClr val="lt1"/>
              </a:buClr>
              <a:buSzPts val="3800"/>
              <a:buFont typeface="Calibri"/>
              <a:buNone/>
            </a:pPr>
            <a:r>
              <a:rPr b="1" lang="en" sz="3800">
                <a:latin typeface="Calibri"/>
                <a:ea typeface="Calibri"/>
                <a:cs typeface="Calibri"/>
                <a:sym typeface="Calibri"/>
              </a:rPr>
              <a:t>Vision-Language Grounded</a:t>
            </a:r>
            <a:endParaRPr b="1" sz="3800">
              <a:latin typeface="Calibri"/>
              <a:ea typeface="Calibri"/>
              <a:cs typeface="Calibri"/>
              <a:sym typeface="Calibri"/>
            </a:endParaRPr>
          </a:p>
          <a:p>
            <a:pPr indent="0" lvl="0" marL="0" rtl="0" algn="ctr">
              <a:lnSpc>
                <a:spcPct val="100000"/>
              </a:lnSpc>
              <a:spcBef>
                <a:spcPts val="0"/>
              </a:spcBef>
              <a:spcAft>
                <a:spcPts val="0"/>
              </a:spcAft>
              <a:buClr>
                <a:schemeClr val="lt1"/>
              </a:buClr>
              <a:buSzPts val="3800"/>
              <a:buFont typeface="Calibri"/>
              <a:buNone/>
            </a:pPr>
            <a:r>
              <a:rPr b="1" lang="en" sz="3800">
                <a:latin typeface="Calibri"/>
                <a:ea typeface="Calibri"/>
                <a:cs typeface="Calibri"/>
                <a:sym typeface="Calibri"/>
              </a:rPr>
              <a:t>Semantic Navigation</a:t>
            </a:r>
            <a:endParaRPr b="1" sz="3800">
              <a:latin typeface="Calibri"/>
              <a:ea typeface="Calibri"/>
              <a:cs typeface="Calibri"/>
              <a:sym typeface="Calibri"/>
            </a:endParaRPr>
          </a:p>
          <a:p>
            <a:pPr indent="0" lvl="0" marL="0" rtl="0" algn="ctr">
              <a:lnSpc>
                <a:spcPct val="100000"/>
              </a:lnSpc>
              <a:spcBef>
                <a:spcPts val="1000"/>
              </a:spcBef>
              <a:spcAft>
                <a:spcPts val="0"/>
              </a:spcAft>
              <a:buClr>
                <a:srgbClr val="90E0EF"/>
              </a:buClr>
              <a:buSzPts val="2200"/>
              <a:buFont typeface="Calibri"/>
              <a:buNone/>
            </a:pPr>
            <a:r>
              <a:rPr i="1" lang="en" sz="3000">
                <a:latin typeface="Calibri"/>
                <a:ea typeface="Calibri"/>
                <a:cs typeface="Calibri"/>
                <a:sym typeface="Calibri"/>
              </a:rPr>
              <a:t>for Autonomous Mobile Robots</a:t>
            </a:r>
            <a:endParaRPr sz="4780">
              <a:latin typeface="Arial"/>
              <a:ea typeface="Arial"/>
              <a:cs typeface="Arial"/>
              <a:sym typeface="Arial"/>
            </a:endParaRPr>
          </a:p>
        </p:txBody>
      </p:sp>
      <p:sp>
        <p:nvSpPr>
          <p:cNvPr id="172" name="Google Shape;172;p30"/>
          <p:cNvSpPr txBox="1"/>
          <p:nvPr>
            <p:ph idx="1" type="subTitle"/>
          </p:nvPr>
        </p:nvSpPr>
        <p:spPr>
          <a:xfrm>
            <a:off x="1143000" y="2820232"/>
            <a:ext cx="6858000" cy="1241700"/>
          </a:xfrm>
          <a:prstGeom prst="rect">
            <a:avLst/>
          </a:prstGeom>
        </p:spPr>
        <p:txBody>
          <a:bodyPr anchorCtr="0" anchor="t" bIns="34275" lIns="68575" spcFirstLastPara="1" rIns="68575" wrap="square" tIns="34275">
            <a:normAutofit fontScale="25000" lnSpcReduction="20000"/>
          </a:bodyPr>
          <a:lstStyle/>
          <a:p>
            <a:pPr indent="0" lvl="0" marL="0" rtl="0" algn="l">
              <a:spcBef>
                <a:spcPts val="800"/>
              </a:spcBef>
              <a:spcAft>
                <a:spcPts val="0"/>
              </a:spcAft>
              <a:buClr>
                <a:schemeClr val="dk1"/>
              </a:buClr>
              <a:buSzPts val="275"/>
              <a:buFont typeface="Arial"/>
              <a:buNone/>
            </a:pPr>
            <a:r>
              <a:t/>
            </a:r>
            <a:endParaRPr sz="5200"/>
          </a:p>
          <a:p>
            <a:pPr indent="0" lvl="0" marL="0" rtl="0" algn="ctr">
              <a:spcBef>
                <a:spcPts val="800"/>
              </a:spcBef>
              <a:spcAft>
                <a:spcPts val="0"/>
              </a:spcAft>
              <a:buNone/>
            </a:pPr>
            <a:r>
              <a:rPr b="1" lang="en" sz="6800"/>
              <a:t>Team 21</a:t>
            </a:r>
            <a:r>
              <a:rPr lang="en" sz="6800"/>
              <a:t>: </a:t>
            </a:r>
            <a:endParaRPr sz="6800"/>
          </a:p>
          <a:p>
            <a:pPr indent="0" lvl="0" marL="0" rtl="0" algn="ctr">
              <a:spcBef>
                <a:spcPts val="800"/>
              </a:spcBef>
              <a:spcAft>
                <a:spcPts val="0"/>
              </a:spcAft>
              <a:buNone/>
            </a:pPr>
            <a:r>
              <a:rPr lang="en" sz="6800"/>
              <a:t>Chittin Varunav Ravi</a:t>
            </a:r>
            <a:endParaRPr sz="6800"/>
          </a:p>
          <a:p>
            <a:pPr indent="0" lvl="0" marL="0" rtl="0" algn="ctr">
              <a:spcBef>
                <a:spcPts val="800"/>
              </a:spcBef>
              <a:spcAft>
                <a:spcPts val="0"/>
              </a:spcAft>
              <a:buNone/>
            </a:pPr>
            <a:r>
              <a:rPr lang="en" sz="6800"/>
              <a:t>   </a:t>
            </a:r>
            <a:r>
              <a:rPr lang="en" sz="6800"/>
              <a:t>Madhumita Singh</a:t>
            </a:r>
            <a:endParaRPr sz="6800"/>
          </a:p>
          <a:p>
            <a:pPr indent="0" lvl="0" marL="0" rtl="0" algn="ctr">
              <a:spcBef>
                <a:spcPts val="800"/>
              </a:spcBef>
              <a:spcAft>
                <a:spcPts val="0"/>
              </a:spcAft>
              <a:buNone/>
            </a:pPr>
            <a:r>
              <a:rPr lang="en" sz="6800"/>
              <a:t>Ravindran Vasoor Saravanan</a:t>
            </a:r>
            <a:endParaRPr sz="6800"/>
          </a:p>
          <a:p>
            <a:pPr indent="0" lvl="0" marL="0" rtl="0" algn="ctr">
              <a:spcBef>
                <a:spcPts val="800"/>
              </a:spcBef>
              <a:spcAft>
                <a:spcPts val="0"/>
              </a:spcAft>
              <a:buNone/>
            </a:pPr>
            <a:r>
              <a:rPr lang="en" sz="6800"/>
              <a:t>Thirulok Sundar Mohan Rasu</a:t>
            </a:r>
            <a:endParaRPr sz="6800"/>
          </a:p>
          <a:p>
            <a:pPr indent="0" lvl="0" marL="0" rtl="0" algn="ctr">
              <a:spcBef>
                <a:spcPts val="800"/>
              </a:spcBef>
              <a:spcAft>
                <a:spcPts val="0"/>
              </a:spcAft>
              <a:buClr>
                <a:schemeClr val="dk1"/>
              </a:buClr>
              <a:buSzPct val="61111"/>
              <a:buFont typeface="Arial"/>
              <a:buNone/>
            </a:pPr>
            <a:r>
              <a:t/>
            </a:r>
            <a:endParaRPr/>
          </a:p>
          <a:p>
            <a:pPr indent="0" lvl="0" marL="0" rtl="0" algn="ctr">
              <a:spcBef>
                <a:spcPts val="8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nvSpPr>
        <p:spPr>
          <a:xfrm>
            <a:off x="555975" y="1293025"/>
            <a:ext cx="825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Play"/>
                <a:ea typeface="Play"/>
                <a:cs typeface="Play"/>
                <a:sym typeface="Play"/>
              </a:rPr>
              <a:t>Traditional robotic navigation relies on coordinate-based goals (X, Y), which are unintuitive for users and assume pre-built maps with known object labels. Our project’s goal is to enable robots to interpret compositional natural language commands (e.g., “go to the red cylinder”).</a:t>
            </a:r>
            <a:endParaRPr sz="1600">
              <a:latin typeface="Play"/>
              <a:ea typeface="Play"/>
              <a:cs typeface="Play"/>
              <a:sym typeface="Play"/>
            </a:endParaRPr>
          </a:p>
        </p:txBody>
      </p:sp>
      <p:sp>
        <p:nvSpPr>
          <p:cNvPr id="178" name="Google Shape;178;p31"/>
          <p:cNvSpPr txBox="1"/>
          <p:nvPr>
            <p:ph type="title"/>
          </p:nvPr>
        </p:nvSpPr>
        <p:spPr>
          <a:xfrm>
            <a:off x="1412700" y="632750"/>
            <a:ext cx="6318600" cy="534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800"/>
              </a:spcBef>
              <a:spcAft>
                <a:spcPts val="0"/>
              </a:spcAft>
              <a:buNone/>
            </a:pPr>
            <a:r>
              <a:rPr lang="en" sz="3000"/>
              <a:t>Problem Statement</a:t>
            </a:r>
            <a:endParaRPr sz="3000">
              <a:latin typeface="Arial"/>
              <a:ea typeface="Arial"/>
              <a:cs typeface="Arial"/>
              <a:sym typeface="Arial"/>
            </a:endParaRPr>
          </a:p>
        </p:txBody>
      </p:sp>
      <p:pic>
        <p:nvPicPr>
          <p:cNvPr id="179" name="Google Shape;179;p31"/>
          <p:cNvPicPr preferRelativeResize="0"/>
          <p:nvPr/>
        </p:nvPicPr>
        <p:blipFill rotWithShape="1">
          <a:blip r:embed="rId3">
            <a:alphaModFix/>
          </a:blip>
          <a:srcRect b="8905" l="565" r="5300" t="29298"/>
          <a:stretch/>
        </p:blipFill>
        <p:spPr>
          <a:xfrm>
            <a:off x="1547025" y="2571749"/>
            <a:ext cx="5583263" cy="20007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p:nvPr/>
        </p:nvSpPr>
        <p:spPr>
          <a:xfrm>
            <a:off x="1431128" y="2143220"/>
            <a:ext cx="1714500" cy="534900"/>
          </a:xfrm>
          <a:prstGeom prst="roundRect">
            <a:avLst>
              <a:gd fmla="val 7692" name="adj"/>
            </a:avLst>
          </a:prstGeom>
          <a:solidFill>
            <a:srgbClr val="F5D5D5"/>
          </a:solidFill>
          <a:ln cap="flat" cmpd="sng" w="15225">
            <a:solidFill>
              <a:srgbClr val="D4707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85" name="Google Shape;185;p32"/>
          <p:cNvSpPr txBox="1"/>
          <p:nvPr>
            <p:ph type="title"/>
          </p:nvPr>
        </p:nvSpPr>
        <p:spPr>
          <a:xfrm>
            <a:off x="2691525" y="71000"/>
            <a:ext cx="6318600" cy="534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800"/>
              </a:spcBef>
              <a:spcAft>
                <a:spcPts val="0"/>
              </a:spcAft>
              <a:buNone/>
            </a:pPr>
            <a:r>
              <a:rPr lang="en" sz="3000"/>
              <a:t>System Architecture Overview</a:t>
            </a:r>
            <a:endParaRPr sz="3000">
              <a:latin typeface="Arial"/>
              <a:ea typeface="Arial"/>
              <a:cs typeface="Arial"/>
              <a:sym typeface="Arial"/>
            </a:endParaRPr>
          </a:p>
        </p:txBody>
      </p:sp>
      <p:sp>
        <p:nvSpPr>
          <p:cNvPr id="186" name="Google Shape;186;p32"/>
          <p:cNvSpPr/>
          <p:nvPr/>
        </p:nvSpPr>
        <p:spPr>
          <a:xfrm>
            <a:off x="50617" y="682450"/>
            <a:ext cx="981600" cy="624900"/>
          </a:xfrm>
          <a:prstGeom prst="rect">
            <a:avLst/>
          </a:prstGeom>
          <a:solidFill>
            <a:srgbClr val="FFBBCC"/>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Simulation</a:t>
            </a:r>
            <a:endParaRPr i="1">
              <a:solidFill>
                <a:srgbClr val="0D1B2A"/>
              </a:solidFill>
              <a:latin typeface="Calibri"/>
              <a:ea typeface="Calibri"/>
              <a:cs typeface="Calibri"/>
              <a:sym typeface="Calibri"/>
            </a:endParaRPr>
          </a:p>
        </p:txBody>
      </p:sp>
      <p:sp>
        <p:nvSpPr>
          <p:cNvPr id="187" name="Google Shape;187;p32"/>
          <p:cNvSpPr/>
          <p:nvPr/>
        </p:nvSpPr>
        <p:spPr>
          <a:xfrm>
            <a:off x="50617" y="1353335"/>
            <a:ext cx="981600" cy="624900"/>
          </a:xfrm>
          <a:prstGeom prst="rect">
            <a:avLst/>
          </a:prstGeom>
          <a:solidFill>
            <a:srgbClr val="FFBBCC"/>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Exploration</a:t>
            </a:r>
            <a:endParaRPr i="1">
              <a:solidFill>
                <a:srgbClr val="0D1B2A"/>
              </a:solidFill>
              <a:latin typeface="Calibri"/>
              <a:ea typeface="Calibri"/>
              <a:cs typeface="Calibri"/>
              <a:sym typeface="Calibri"/>
            </a:endParaRPr>
          </a:p>
        </p:txBody>
      </p:sp>
      <p:sp>
        <p:nvSpPr>
          <p:cNvPr id="188" name="Google Shape;188;p32"/>
          <p:cNvSpPr/>
          <p:nvPr/>
        </p:nvSpPr>
        <p:spPr>
          <a:xfrm>
            <a:off x="50200" y="2024209"/>
            <a:ext cx="981600" cy="624900"/>
          </a:xfrm>
          <a:prstGeom prst="rect">
            <a:avLst/>
          </a:prstGeom>
          <a:solidFill>
            <a:srgbClr val="FFBBCC"/>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Mapping &amp;</a:t>
            </a:r>
            <a:endParaRPr i="1">
              <a:solidFill>
                <a:srgbClr val="0D1B2A"/>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Perception</a:t>
            </a:r>
            <a:endParaRPr i="1">
              <a:solidFill>
                <a:srgbClr val="0D1B2A"/>
              </a:solidFill>
              <a:latin typeface="Calibri"/>
              <a:ea typeface="Calibri"/>
              <a:cs typeface="Calibri"/>
              <a:sym typeface="Calibri"/>
            </a:endParaRPr>
          </a:p>
        </p:txBody>
      </p:sp>
      <p:sp>
        <p:nvSpPr>
          <p:cNvPr id="189" name="Google Shape;189;p32"/>
          <p:cNvSpPr/>
          <p:nvPr/>
        </p:nvSpPr>
        <p:spPr>
          <a:xfrm>
            <a:off x="50617" y="2701683"/>
            <a:ext cx="981600" cy="558900"/>
          </a:xfrm>
          <a:prstGeom prst="rect">
            <a:avLst/>
          </a:prstGeom>
          <a:solidFill>
            <a:srgbClr val="FFBBCC"/>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Semantic map</a:t>
            </a:r>
            <a:endParaRPr i="1">
              <a:solidFill>
                <a:srgbClr val="0D1B2A"/>
              </a:solidFill>
              <a:latin typeface="Calibri"/>
              <a:ea typeface="Calibri"/>
              <a:cs typeface="Calibri"/>
              <a:sym typeface="Calibri"/>
            </a:endParaRPr>
          </a:p>
        </p:txBody>
      </p:sp>
      <p:sp>
        <p:nvSpPr>
          <p:cNvPr id="190" name="Google Shape;190;p32"/>
          <p:cNvSpPr/>
          <p:nvPr/>
        </p:nvSpPr>
        <p:spPr>
          <a:xfrm>
            <a:off x="50700" y="3313362"/>
            <a:ext cx="981600" cy="690600"/>
          </a:xfrm>
          <a:prstGeom prst="rect">
            <a:avLst/>
          </a:prstGeom>
          <a:solidFill>
            <a:srgbClr val="FFBBCC"/>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Command</a:t>
            </a:r>
            <a:endParaRPr i="1">
              <a:solidFill>
                <a:srgbClr val="0D1B2A"/>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&amp; Navigation</a:t>
            </a:r>
            <a:endParaRPr i="1">
              <a:solidFill>
                <a:srgbClr val="0D1B2A"/>
              </a:solidFill>
              <a:latin typeface="Calibri"/>
              <a:ea typeface="Calibri"/>
              <a:cs typeface="Calibri"/>
              <a:sym typeface="Calibri"/>
            </a:endParaRPr>
          </a:p>
        </p:txBody>
      </p:sp>
      <p:sp>
        <p:nvSpPr>
          <p:cNvPr id="191" name="Google Shape;191;p32"/>
          <p:cNvSpPr/>
          <p:nvPr/>
        </p:nvSpPr>
        <p:spPr>
          <a:xfrm>
            <a:off x="50498" y="4063185"/>
            <a:ext cx="981600" cy="558900"/>
          </a:xfrm>
          <a:prstGeom prst="rect">
            <a:avLst/>
          </a:prstGeom>
          <a:solidFill>
            <a:srgbClr val="FFBBCC"/>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800"/>
              <a:buFont typeface="Calibri"/>
              <a:buNone/>
            </a:pPr>
            <a:r>
              <a:rPr i="1" lang="en">
                <a:solidFill>
                  <a:srgbClr val="0D1B2A"/>
                </a:solidFill>
                <a:latin typeface="Calibri"/>
                <a:ea typeface="Calibri"/>
                <a:cs typeface="Calibri"/>
                <a:sym typeface="Calibri"/>
              </a:rPr>
              <a:t>Goal</a:t>
            </a:r>
            <a:endParaRPr i="1">
              <a:solidFill>
                <a:srgbClr val="0D1B2A"/>
              </a:solidFill>
              <a:latin typeface="Calibri"/>
              <a:ea typeface="Calibri"/>
              <a:cs typeface="Calibri"/>
              <a:sym typeface="Calibri"/>
            </a:endParaRPr>
          </a:p>
        </p:txBody>
      </p:sp>
      <p:sp>
        <p:nvSpPr>
          <p:cNvPr id="192" name="Google Shape;192;p32"/>
          <p:cNvSpPr/>
          <p:nvPr/>
        </p:nvSpPr>
        <p:spPr>
          <a:xfrm>
            <a:off x="1537153" y="819028"/>
            <a:ext cx="1508700" cy="404700"/>
          </a:xfrm>
          <a:prstGeom prst="roundRect">
            <a:avLst>
              <a:gd fmla="val 7692" name="adj"/>
            </a:avLst>
          </a:prstGeom>
          <a:solidFill>
            <a:srgbClr val="FFFFFF"/>
          </a:solidFill>
          <a:ln cap="flat" cmpd="sng" w="15225">
            <a:solidFill>
              <a:srgbClr val="B0B0B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93" name="Google Shape;193;p32"/>
          <p:cNvSpPr/>
          <p:nvPr/>
        </p:nvSpPr>
        <p:spPr>
          <a:xfrm>
            <a:off x="1592013" y="838463"/>
            <a:ext cx="1398900" cy="336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Gazebo simulation</a:t>
            </a:r>
            <a:endParaRPr b="1"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3D Robot </a:t>
            </a:r>
            <a:r>
              <a:rPr lang="en" sz="1100">
                <a:solidFill>
                  <a:schemeClr val="dk1"/>
                </a:solidFill>
                <a:latin typeface="Calibri"/>
                <a:ea typeface="Calibri"/>
                <a:cs typeface="Calibri"/>
                <a:sym typeface="Calibri"/>
              </a:rPr>
              <a:t>Simulation</a:t>
            </a:r>
            <a:endParaRPr sz="1100">
              <a:solidFill>
                <a:schemeClr val="dk1"/>
              </a:solidFill>
              <a:latin typeface="Calibri"/>
              <a:ea typeface="Calibri"/>
              <a:cs typeface="Calibri"/>
              <a:sym typeface="Calibri"/>
            </a:endParaRPr>
          </a:p>
        </p:txBody>
      </p:sp>
      <p:sp>
        <p:nvSpPr>
          <p:cNvPr id="194" name="Google Shape;194;p32"/>
          <p:cNvSpPr/>
          <p:nvPr/>
        </p:nvSpPr>
        <p:spPr>
          <a:xfrm>
            <a:off x="5292624" y="826428"/>
            <a:ext cx="1508700" cy="404700"/>
          </a:xfrm>
          <a:prstGeom prst="roundRect">
            <a:avLst>
              <a:gd fmla="val 7692" name="adj"/>
            </a:avLst>
          </a:prstGeom>
          <a:solidFill>
            <a:srgbClr val="FFFFFF"/>
          </a:solidFill>
          <a:ln cap="flat" cmpd="sng" w="15225">
            <a:solidFill>
              <a:srgbClr val="B0B0B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95" name="Google Shape;195;p32"/>
          <p:cNvSpPr/>
          <p:nvPr/>
        </p:nvSpPr>
        <p:spPr>
          <a:xfrm>
            <a:off x="5361204" y="845889"/>
            <a:ext cx="1398900" cy="150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RGB camera</a:t>
            </a:r>
            <a:endParaRPr b="1"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Color image capture</a:t>
            </a:r>
            <a:endParaRPr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t/>
            </a:r>
            <a:endParaRPr b="1" sz="1100">
              <a:solidFill>
                <a:schemeClr val="dk1"/>
              </a:solidFill>
              <a:latin typeface="Calibri"/>
              <a:ea typeface="Calibri"/>
              <a:cs typeface="Calibri"/>
              <a:sym typeface="Calibri"/>
            </a:endParaRPr>
          </a:p>
        </p:txBody>
      </p:sp>
      <p:sp>
        <p:nvSpPr>
          <p:cNvPr id="196" name="Google Shape;196;p32"/>
          <p:cNvSpPr/>
          <p:nvPr/>
        </p:nvSpPr>
        <p:spPr>
          <a:xfrm>
            <a:off x="7150478" y="825735"/>
            <a:ext cx="1508700" cy="404700"/>
          </a:xfrm>
          <a:prstGeom prst="roundRect">
            <a:avLst>
              <a:gd fmla="val 7692" name="adj"/>
            </a:avLst>
          </a:prstGeom>
          <a:solidFill>
            <a:srgbClr val="FFFFFF"/>
          </a:solidFill>
          <a:ln cap="flat" cmpd="sng" w="15225">
            <a:solidFill>
              <a:srgbClr val="B0B0B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97" name="Google Shape;197;p32"/>
          <p:cNvSpPr/>
          <p:nvPr/>
        </p:nvSpPr>
        <p:spPr>
          <a:xfrm>
            <a:off x="7205346" y="855596"/>
            <a:ext cx="1398900" cy="336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Depth camera</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Distance estimation</a:t>
            </a:r>
            <a:endParaRPr sz="1100">
              <a:solidFill>
                <a:schemeClr val="dk1"/>
              </a:solidFill>
              <a:latin typeface="Calibri"/>
              <a:ea typeface="Calibri"/>
              <a:cs typeface="Calibri"/>
              <a:sym typeface="Calibri"/>
            </a:endParaRPr>
          </a:p>
        </p:txBody>
      </p:sp>
      <p:sp>
        <p:nvSpPr>
          <p:cNvPr id="198" name="Google Shape;198;p32"/>
          <p:cNvSpPr/>
          <p:nvPr/>
        </p:nvSpPr>
        <p:spPr>
          <a:xfrm>
            <a:off x="3398402" y="825553"/>
            <a:ext cx="1508700" cy="404700"/>
          </a:xfrm>
          <a:prstGeom prst="roundRect">
            <a:avLst>
              <a:gd fmla="val 7692" name="adj"/>
            </a:avLst>
          </a:prstGeom>
          <a:solidFill>
            <a:srgbClr val="FFFFFF"/>
          </a:solidFill>
          <a:ln cap="flat" cmpd="sng" w="15225">
            <a:solidFill>
              <a:srgbClr val="B0B0B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99" name="Google Shape;199;p32"/>
          <p:cNvSpPr/>
          <p:nvPr/>
        </p:nvSpPr>
        <p:spPr>
          <a:xfrm>
            <a:off x="3453263" y="856554"/>
            <a:ext cx="1398900" cy="336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LiDAR</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2D laser scanning</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b="1"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1" sz="1100">
              <a:solidFill>
                <a:schemeClr val="dk1"/>
              </a:solidFill>
              <a:latin typeface="Calibri"/>
              <a:ea typeface="Calibri"/>
              <a:cs typeface="Calibri"/>
              <a:sym typeface="Calibri"/>
            </a:endParaRPr>
          </a:p>
        </p:txBody>
      </p:sp>
      <p:sp>
        <p:nvSpPr>
          <p:cNvPr id="200" name="Google Shape;200;p32"/>
          <p:cNvSpPr/>
          <p:nvPr/>
        </p:nvSpPr>
        <p:spPr>
          <a:xfrm>
            <a:off x="1423119" y="1436842"/>
            <a:ext cx="1745700" cy="500700"/>
          </a:xfrm>
          <a:prstGeom prst="roundRect">
            <a:avLst>
              <a:gd fmla="val 7692" name="adj"/>
            </a:avLst>
          </a:prstGeom>
          <a:solidFill>
            <a:srgbClr val="C8EDEA"/>
          </a:solidFill>
          <a:ln cap="flat" cmpd="sng" w="15225">
            <a:solidFill>
              <a:srgbClr val="5BAFA9"/>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01" name="Google Shape;201;p32"/>
          <p:cNvSpPr/>
          <p:nvPr/>
        </p:nvSpPr>
        <p:spPr>
          <a:xfrm>
            <a:off x="1466008" y="1483157"/>
            <a:ext cx="1645800" cy="46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Frontier explorer</a:t>
            </a:r>
            <a:endParaRPr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Autonomous exploration</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t/>
            </a:r>
            <a:endParaRPr b="1" sz="1100">
              <a:solidFill>
                <a:schemeClr val="dk1"/>
              </a:solidFill>
              <a:latin typeface="Calibri"/>
              <a:ea typeface="Calibri"/>
              <a:cs typeface="Calibri"/>
              <a:sym typeface="Calibri"/>
            </a:endParaRPr>
          </a:p>
        </p:txBody>
      </p:sp>
      <p:sp>
        <p:nvSpPr>
          <p:cNvPr id="202" name="Google Shape;202;p32"/>
          <p:cNvSpPr/>
          <p:nvPr/>
        </p:nvSpPr>
        <p:spPr>
          <a:xfrm>
            <a:off x="3489751" y="1420419"/>
            <a:ext cx="1920300" cy="534900"/>
          </a:xfrm>
          <a:prstGeom prst="roundRect">
            <a:avLst>
              <a:gd fmla="val 7692" name="adj"/>
            </a:avLst>
          </a:prstGeom>
          <a:solidFill>
            <a:srgbClr val="C8EDEA"/>
          </a:solidFill>
          <a:ln cap="flat" cmpd="sng" w="15225">
            <a:solidFill>
              <a:srgbClr val="5BAFA9"/>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03" name="Google Shape;203;p32"/>
          <p:cNvSpPr/>
          <p:nvPr/>
        </p:nvSpPr>
        <p:spPr>
          <a:xfrm>
            <a:off x="3544625" y="1466735"/>
            <a:ext cx="1810500" cy="46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Cartographer SLAM</a:t>
            </a:r>
            <a:endParaRPr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Mapping &amp; localization</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b="1" sz="1100">
              <a:solidFill>
                <a:schemeClr val="dk1"/>
              </a:solidFill>
              <a:latin typeface="Calibri"/>
              <a:ea typeface="Calibri"/>
              <a:cs typeface="Calibri"/>
              <a:sym typeface="Calibri"/>
            </a:endParaRPr>
          </a:p>
        </p:txBody>
      </p:sp>
      <p:sp>
        <p:nvSpPr>
          <p:cNvPr id="204" name="Google Shape;204;p32"/>
          <p:cNvSpPr/>
          <p:nvPr/>
        </p:nvSpPr>
        <p:spPr>
          <a:xfrm>
            <a:off x="1478996" y="2210913"/>
            <a:ext cx="1604700" cy="46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Occupancy grid</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Free/occupied space map</a:t>
            </a:r>
            <a:endParaRPr sz="1100">
              <a:solidFill>
                <a:schemeClr val="dk1"/>
              </a:solidFill>
              <a:latin typeface="Calibri"/>
              <a:ea typeface="Calibri"/>
              <a:cs typeface="Calibri"/>
              <a:sym typeface="Calibri"/>
            </a:endParaRPr>
          </a:p>
        </p:txBody>
      </p:sp>
      <p:sp>
        <p:nvSpPr>
          <p:cNvPr id="205" name="Google Shape;205;p32"/>
          <p:cNvSpPr/>
          <p:nvPr/>
        </p:nvSpPr>
        <p:spPr>
          <a:xfrm>
            <a:off x="4240508" y="2136358"/>
            <a:ext cx="1714500" cy="534900"/>
          </a:xfrm>
          <a:prstGeom prst="roundRect">
            <a:avLst>
              <a:gd fmla="val 7692" name="adj"/>
            </a:avLst>
          </a:prstGeom>
          <a:solidFill>
            <a:srgbClr val="F5D5D5"/>
          </a:solidFill>
          <a:ln cap="flat" cmpd="sng" w="15225">
            <a:solidFill>
              <a:srgbClr val="D4707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06" name="Google Shape;206;p32"/>
          <p:cNvSpPr/>
          <p:nvPr/>
        </p:nvSpPr>
        <p:spPr>
          <a:xfrm>
            <a:off x="4295375" y="2186799"/>
            <a:ext cx="1604700" cy="46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Grounding DINO</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Object Detection</a:t>
            </a:r>
            <a:endParaRPr b="1" sz="1100">
              <a:solidFill>
                <a:schemeClr val="dk1"/>
              </a:solidFill>
              <a:latin typeface="Calibri"/>
              <a:ea typeface="Calibri"/>
              <a:cs typeface="Calibri"/>
              <a:sym typeface="Calibri"/>
            </a:endParaRPr>
          </a:p>
        </p:txBody>
      </p:sp>
      <p:sp>
        <p:nvSpPr>
          <p:cNvPr id="207" name="Google Shape;207;p32"/>
          <p:cNvSpPr/>
          <p:nvPr/>
        </p:nvSpPr>
        <p:spPr>
          <a:xfrm>
            <a:off x="7056838" y="2136358"/>
            <a:ext cx="1714500" cy="534900"/>
          </a:xfrm>
          <a:prstGeom prst="roundRect">
            <a:avLst>
              <a:gd fmla="val 7692" name="adj"/>
            </a:avLst>
          </a:prstGeom>
          <a:solidFill>
            <a:srgbClr val="F5D5D5"/>
          </a:solidFill>
          <a:ln cap="flat" cmpd="sng" w="15225">
            <a:solidFill>
              <a:srgbClr val="D47070"/>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08" name="Google Shape;208;p32"/>
          <p:cNvSpPr/>
          <p:nvPr/>
        </p:nvSpPr>
        <p:spPr>
          <a:xfrm>
            <a:off x="7111700" y="2198867"/>
            <a:ext cx="1604700" cy="46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3D localization</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Object position estimation</a:t>
            </a:r>
            <a:endParaRPr b="1" sz="1100">
              <a:solidFill>
                <a:schemeClr val="dk1"/>
              </a:solidFill>
              <a:latin typeface="Calibri"/>
              <a:ea typeface="Calibri"/>
              <a:cs typeface="Calibri"/>
              <a:sym typeface="Calibri"/>
            </a:endParaRPr>
          </a:p>
        </p:txBody>
      </p:sp>
      <p:sp>
        <p:nvSpPr>
          <p:cNvPr id="209" name="Google Shape;209;p32"/>
          <p:cNvSpPr/>
          <p:nvPr/>
        </p:nvSpPr>
        <p:spPr>
          <a:xfrm>
            <a:off x="3794738" y="2842731"/>
            <a:ext cx="2606100" cy="466200"/>
          </a:xfrm>
          <a:prstGeom prst="roundRect">
            <a:avLst>
              <a:gd fmla="val 8824" name="adj"/>
            </a:avLst>
          </a:prstGeom>
          <a:solidFill>
            <a:srgbClr val="FAE0C4"/>
          </a:solidFill>
          <a:ln cap="flat" cmpd="sng" w="15225">
            <a:solidFill>
              <a:srgbClr val="C98A42"/>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10" name="Google Shape;210;p32"/>
          <p:cNvSpPr/>
          <p:nvPr/>
        </p:nvSpPr>
        <p:spPr>
          <a:xfrm>
            <a:off x="3849600" y="2893175"/>
            <a:ext cx="2496300" cy="40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Semantic map</a:t>
            </a:r>
            <a:endParaRPr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 Object memory storage</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t/>
            </a:r>
            <a:endParaRPr b="1" sz="1100">
              <a:solidFill>
                <a:schemeClr val="dk1"/>
              </a:solidFill>
              <a:latin typeface="Calibri"/>
              <a:ea typeface="Calibri"/>
              <a:cs typeface="Calibri"/>
              <a:sym typeface="Calibri"/>
            </a:endParaRPr>
          </a:p>
        </p:txBody>
      </p:sp>
      <p:sp>
        <p:nvSpPr>
          <p:cNvPr id="211" name="Google Shape;211;p32"/>
          <p:cNvSpPr/>
          <p:nvPr/>
        </p:nvSpPr>
        <p:spPr>
          <a:xfrm>
            <a:off x="1823063" y="3494242"/>
            <a:ext cx="1714500" cy="562500"/>
          </a:xfrm>
          <a:prstGeom prst="roundRect">
            <a:avLst>
              <a:gd fmla="val 7317" name="adj"/>
            </a:avLst>
          </a:prstGeom>
          <a:solidFill>
            <a:srgbClr val="D3E6F5"/>
          </a:solidFill>
          <a:ln cap="flat" cmpd="sng" w="15225">
            <a:solidFill>
              <a:srgbClr val="6A9DC5"/>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12" name="Google Shape;212;p32"/>
          <p:cNvSpPr/>
          <p:nvPr/>
        </p:nvSpPr>
        <p:spPr>
          <a:xfrm>
            <a:off x="1877925" y="3576691"/>
            <a:ext cx="1604700" cy="534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Natural language command</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e.g. "Go to the red cylinder"</a:t>
            </a:r>
            <a:endParaRPr sz="11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800"/>
              <a:buFont typeface="Calibri"/>
              <a:buNone/>
            </a:pPr>
            <a:r>
              <a:t/>
            </a:r>
            <a:endParaRPr b="1" sz="1100">
              <a:solidFill>
                <a:schemeClr val="dk1"/>
              </a:solidFill>
              <a:latin typeface="Calibri"/>
              <a:ea typeface="Calibri"/>
              <a:cs typeface="Calibri"/>
              <a:sym typeface="Calibri"/>
            </a:endParaRPr>
          </a:p>
        </p:txBody>
      </p:sp>
      <p:sp>
        <p:nvSpPr>
          <p:cNvPr id="213" name="Google Shape;213;p32"/>
          <p:cNvSpPr/>
          <p:nvPr/>
        </p:nvSpPr>
        <p:spPr>
          <a:xfrm>
            <a:off x="4240508" y="3494242"/>
            <a:ext cx="1714500" cy="562500"/>
          </a:xfrm>
          <a:prstGeom prst="roundRect">
            <a:avLst>
              <a:gd fmla="val 7317" name="adj"/>
            </a:avLst>
          </a:prstGeom>
          <a:solidFill>
            <a:srgbClr val="00B4D8">
              <a:alpha val="30199"/>
            </a:srgbClr>
          </a:solidFill>
          <a:ln cap="flat" cmpd="sng" w="15225">
            <a:solidFill>
              <a:srgbClr val="00B4D8"/>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14" name="Google Shape;214;p32"/>
          <p:cNvSpPr/>
          <p:nvPr/>
        </p:nvSpPr>
        <p:spPr>
          <a:xfrm>
            <a:off x="4295375" y="3516464"/>
            <a:ext cx="1604700" cy="500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Mission controller</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Target</a:t>
            </a:r>
            <a:r>
              <a:rPr lang="en" sz="1100">
                <a:solidFill>
                  <a:schemeClr val="dk1"/>
                </a:solidFill>
                <a:latin typeface="Calibri"/>
                <a:ea typeface="Calibri"/>
                <a:cs typeface="Calibri"/>
                <a:sym typeface="Calibri"/>
              </a:rPr>
              <a:t> + map query </a:t>
            </a:r>
            <a:endParaRPr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 goal coordinates</a:t>
            </a:r>
            <a:endParaRPr b="1" sz="1100">
              <a:solidFill>
                <a:schemeClr val="dk1"/>
              </a:solidFill>
              <a:latin typeface="Calibri"/>
              <a:ea typeface="Calibri"/>
              <a:cs typeface="Calibri"/>
              <a:sym typeface="Calibri"/>
            </a:endParaRPr>
          </a:p>
        </p:txBody>
      </p:sp>
      <p:sp>
        <p:nvSpPr>
          <p:cNvPr id="215" name="Google Shape;215;p32"/>
          <p:cNvSpPr/>
          <p:nvPr/>
        </p:nvSpPr>
        <p:spPr>
          <a:xfrm>
            <a:off x="6657952" y="3494242"/>
            <a:ext cx="1714500" cy="562500"/>
          </a:xfrm>
          <a:prstGeom prst="roundRect">
            <a:avLst>
              <a:gd fmla="val 7317" name="adj"/>
            </a:avLst>
          </a:prstGeom>
          <a:solidFill>
            <a:srgbClr val="D3E6F5"/>
          </a:solidFill>
          <a:ln cap="flat" cmpd="sng" w="15225">
            <a:solidFill>
              <a:srgbClr val="6A9DC5"/>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16" name="Google Shape;216;p32"/>
          <p:cNvSpPr/>
          <p:nvPr/>
        </p:nvSpPr>
        <p:spPr>
          <a:xfrm>
            <a:off x="6712825" y="3564648"/>
            <a:ext cx="1604700" cy="500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Nav2 stack</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Navigation to goal</a:t>
            </a:r>
            <a:endParaRPr b="1" sz="1100">
              <a:solidFill>
                <a:schemeClr val="dk1"/>
              </a:solidFill>
              <a:latin typeface="Calibri"/>
              <a:ea typeface="Calibri"/>
              <a:cs typeface="Calibri"/>
              <a:sym typeface="Calibri"/>
            </a:endParaRPr>
          </a:p>
        </p:txBody>
      </p:sp>
      <p:sp>
        <p:nvSpPr>
          <p:cNvPr id="217" name="Google Shape;217;p32"/>
          <p:cNvSpPr/>
          <p:nvPr/>
        </p:nvSpPr>
        <p:spPr>
          <a:xfrm>
            <a:off x="3794738" y="4262338"/>
            <a:ext cx="2606100" cy="466200"/>
          </a:xfrm>
          <a:prstGeom prst="roundRect">
            <a:avLst>
              <a:gd fmla="val 8824" name="adj"/>
            </a:avLst>
          </a:prstGeom>
          <a:solidFill>
            <a:srgbClr val="C8E6CA"/>
          </a:solidFill>
          <a:ln cap="flat" cmpd="sng" w="15225">
            <a:solidFill>
              <a:srgbClr val="5FAD5F"/>
            </a:solidFill>
            <a:prstDash val="solid"/>
            <a:round/>
            <a:headEnd len="sm" w="sm" type="none"/>
            <a:tailEnd len="sm" w="sm" type="none"/>
          </a:ln>
          <a:effectLst>
            <a:outerShdw blurRad="50800" rotWithShape="0" algn="bl" dir="8100000" dist="254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218" name="Google Shape;218;p32"/>
          <p:cNvSpPr/>
          <p:nvPr/>
        </p:nvSpPr>
        <p:spPr>
          <a:xfrm>
            <a:off x="3849600" y="4296621"/>
            <a:ext cx="2496300" cy="40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800"/>
              <a:buFont typeface="Calibri"/>
              <a:buNone/>
            </a:pPr>
            <a:r>
              <a:rPr b="1" lang="en" sz="1100">
                <a:solidFill>
                  <a:schemeClr val="dk1"/>
                </a:solidFill>
                <a:latin typeface="Calibri"/>
                <a:ea typeface="Calibri"/>
                <a:cs typeface="Calibri"/>
                <a:sym typeface="Calibri"/>
              </a:rPr>
              <a:t>Goal reached</a:t>
            </a:r>
            <a:endParaRPr b="1" sz="11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800"/>
              <a:buFont typeface="Calibri"/>
              <a:buNone/>
            </a:pPr>
            <a:r>
              <a:rPr lang="en" sz="1100">
                <a:solidFill>
                  <a:schemeClr val="dk1"/>
                </a:solidFill>
                <a:latin typeface="Calibri"/>
                <a:ea typeface="Calibri"/>
                <a:cs typeface="Calibri"/>
                <a:sym typeface="Calibri"/>
              </a:rPr>
              <a:t>"Navigation complete — arrived at target"</a:t>
            </a:r>
            <a:endParaRPr b="1" sz="1100">
              <a:solidFill>
                <a:schemeClr val="dk1"/>
              </a:solidFill>
              <a:latin typeface="Calibri"/>
              <a:ea typeface="Calibri"/>
              <a:cs typeface="Calibri"/>
              <a:sym typeface="Calibri"/>
            </a:endParaRPr>
          </a:p>
        </p:txBody>
      </p:sp>
      <p:cxnSp>
        <p:nvCxnSpPr>
          <p:cNvPr id="219" name="Google Shape;219;p32"/>
          <p:cNvCxnSpPr>
            <a:stCxn id="192" idx="2"/>
            <a:endCxn id="200" idx="0"/>
          </p:cNvCxnSpPr>
          <p:nvPr/>
        </p:nvCxnSpPr>
        <p:spPr>
          <a:xfrm>
            <a:off x="2291503" y="1223728"/>
            <a:ext cx="4500" cy="213000"/>
          </a:xfrm>
          <a:prstGeom prst="straightConnector1">
            <a:avLst/>
          </a:prstGeom>
          <a:noFill/>
          <a:ln cap="flat" cmpd="sng" w="15225">
            <a:solidFill>
              <a:srgbClr val="6A9DC5"/>
            </a:solidFill>
            <a:prstDash val="solid"/>
            <a:round/>
            <a:headEnd len="sm" w="sm" type="none"/>
            <a:tailEnd len="med" w="med" type="triangle"/>
          </a:ln>
        </p:spPr>
      </p:cxnSp>
      <p:cxnSp>
        <p:nvCxnSpPr>
          <p:cNvPr id="220" name="Google Shape;220;p32"/>
          <p:cNvCxnSpPr>
            <a:stCxn id="194" idx="2"/>
          </p:cNvCxnSpPr>
          <p:nvPr/>
        </p:nvCxnSpPr>
        <p:spPr>
          <a:xfrm flipH="1">
            <a:off x="5639874" y="1231128"/>
            <a:ext cx="407100" cy="904800"/>
          </a:xfrm>
          <a:prstGeom prst="straightConnector1">
            <a:avLst/>
          </a:prstGeom>
          <a:noFill/>
          <a:ln cap="flat" cmpd="sng" w="15225">
            <a:solidFill>
              <a:srgbClr val="6A9DC5"/>
            </a:solidFill>
            <a:prstDash val="solid"/>
            <a:round/>
            <a:headEnd len="sm" w="sm" type="none"/>
            <a:tailEnd len="med" w="med" type="triangle"/>
          </a:ln>
        </p:spPr>
      </p:cxnSp>
      <p:cxnSp>
        <p:nvCxnSpPr>
          <p:cNvPr id="221" name="Google Shape;221;p32"/>
          <p:cNvCxnSpPr>
            <a:stCxn id="184" idx="0"/>
            <a:endCxn id="201" idx="2"/>
          </p:cNvCxnSpPr>
          <p:nvPr/>
        </p:nvCxnSpPr>
        <p:spPr>
          <a:xfrm flipH="1" rot="10800000">
            <a:off x="2288378" y="1949420"/>
            <a:ext cx="600" cy="193800"/>
          </a:xfrm>
          <a:prstGeom prst="straightConnector1">
            <a:avLst/>
          </a:prstGeom>
          <a:noFill/>
          <a:ln cap="flat" cmpd="sng" w="15225">
            <a:solidFill>
              <a:srgbClr val="6A9DC5"/>
            </a:solidFill>
            <a:prstDash val="solid"/>
            <a:round/>
            <a:headEnd len="sm" w="sm" type="none"/>
            <a:tailEnd len="med" w="med" type="triangle"/>
          </a:ln>
        </p:spPr>
      </p:cxnSp>
      <p:cxnSp>
        <p:nvCxnSpPr>
          <p:cNvPr id="222" name="Google Shape;222;p32"/>
          <p:cNvCxnSpPr>
            <a:stCxn id="198" idx="2"/>
          </p:cNvCxnSpPr>
          <p:nvPr/>
        </p:nvCxnSpPr>
        <p:spPr>
          <a:xfrm>
            <a:off x="4152752" y="1230253"/>
            <a:ext cx="15300" cy="198000"/>
          </a:xfrm>
          <a:prstGeom prst="straightConnector1">
            <a:avLst/>
          </a:prstGeom>
          <a:noFill/>
          <a:ln cap="flat" cmpd="sng" w="15225">
            <a:solidFill>
              <a:srgbClr val="6A9DC5"/>
            </a:solidFill>
            <a:prstDash val="solid"/>
            <a:round/>
            <a:headEnd len="sm" w="sm" type="none"/>
            <a:tailEnd len="med" w="med" type="triangle"/>
          </a:ln>
        </p:spPr>
      </p:cxnSp>
      <p:cxnSp>
        <p:nvCxnSpPr>
          <p:cNvPr id="223" name="Google Shape;223;p32"/>
          <p:cNvCxnSpPr/>
          <p:nvPr/>
        </p:nvCxnSpPr>
        <p:spPr>
          <a:xfrm>
            <a:off x="5955007" y="2403820"/>
            <a:ext cx="1094700" cy="0"/>
          </a:xfrm>
          <a:prstGeom prst="straightConnector1">
            <a:avLst/>
          </a:prstGeom>
          <a:noFill/>
          <a:ln cap="flat" cmpd="sng" w="15225">
            <a:solidFill>
              <a:srgbClr val="6A9DC5"/>
            </a:solidFill>
            <a:prstDash val="solid"/>
            <a:round/>
            <a:headEnd len="sm" w="sm" type="none"/>
            <a:tailEnd len="med" w="med" type="triangle"/>
          </a:ln>
        </p:spPr>
      </p:cxnSp>
      <p:cxnSp>
        <p:nvCxnSpPr>
          <p:cNvPr id="224" name="Google Shape;224;p32"/>
          <p:cNvCxnSpPr/>
          <p:nvPr/>
        </p:nvCxnSpPr>
        <p:spPr>
          <a:xfrm>
            <a:off x="5097758" y="2671282"/>
            <a:ext cx="0" cy="137100"/>
          </a:xfrm>
          <a:prstGeom prst="straightConnector1">
            <a:avLst/>
          </a:prstGeom>
          <a:noFill/>
          <a:ln cap="flat" cmpd="sng" w="15225">
            <a:solidFill>
              <a:srgbClr val="6A9DC5"/>
            </a:solidFill>
            <a:prstDash val="solid"/>
            <a:round/>
            <a:headEnd len="sm" w="sm" type="none"/>
            <a:tailEnd len="med" w="med" type="triangle"/>
          </a:ln>
        </p:spPr>
      </p:cxnSp>
      <p:cxnSp>
        <p:nvCxnSpPr>
          <p:cNvPr id="225" name="Google Shape;225;p32"/>
          <p:cNvCxnSpPr/>
          <p:nvPr/>
        </p:nvCxnSpPr>
        <p:spPr>
          <a:xfrm>
            <a:off x="5097758" y="3309075"/>
            <a:ext cx="600" cy="185100"/>
          </a:xfrm>
          <a:prstGeom prst="straightConnector1">
            <a:avLst/>
          </a:prstGeom>
          <a:noFill/>
          <a:ln cap="flat" cmpd="sng" w="15225">
            <a:solidFill>
              <a:srgbClr val="6A9DC5"/>
            </a:solidFill>
            <a:prstDash val="solid"/>
            <a:round/>
            <a:headEnd len="sm" w="sm" type="none"/>
            <a:tailEnd len="med" w="med" type="triangle"/>
          </a:ln>
        </p:spPr>
      </p:cxnSp>
      <p:cxnSp>
        <p:nvCxnSpPr>
          <p:cNvPr id="226" name="Google Shape;226;p32"/>
          <p:cNvCxnSpPr/>
          <p:nvPr/>
        </p:nvCxnSpPr>
        <p:spPr>
          <a:xfrm>
            <a:off x="3537563" y="3775420"/>
            <a:ext cx="702900" cy="600"/>
          </a:xfrm>
          <a:prstGeom prst="straightConnector1">
            <a:avLst/>
          </a:prstGeom>
          <a:noFill/>
          <a:ln cap="flat" cmpd="sng" w="15225">
            <a:solidFill>
              <a:srgbClr val="6A9DC5"/>
            </a:solidFill>
            <a:prstDash val="solid"/>
            <a:round/>
            <a:headEnd len="sm" w="sm" type="none"/>
            <a:tailEnd len="med" w="med" type="triangle"/>
          </a:ln>
        </p:spPr>
      </p:cxnSp>
      <p:cxnSp>
        <p:nvCxnSpPr>
          <p:cNvPr id="227" name="Google Shape;227;p32"/>
          <p:cNvCxnSpPr/>
          <p:nvPr/>
        </p:nvCxnSpPr>
        <p:spPr>
          <a:xfrm>
            <a:off x="5955008" y="3775420"/>
            <a:ext cx="702900" cy="600"/>
          </a:xfrm>
          <a:prstGeom prst="straightConnector1">
            <a:avLst/>
          </a:prstGeom>
          <a:noFill/>
          <a:ln cap="flat" cmpd="sng" w="15225">
            <a:solidFill>
              <a:srgbClr val="6A9DC5"/>
            </a:solidFill>
            <a:prstDash val="solid"/>
            <a:round/>
            <a:headEnd len="sm" w="sm" type="none"/>
            <a:tailEnd len="med" w="med" type="triangle"/>
          </a:ln>
        </p:spPr>
      </p:cxnSp>
      <p:cxnSp>
        <p:nvCxnSpPr>
          <p:cNvPr id="228" name="Google Shape;228;p32"/>
          <p:cNvCxnSpPr/>
          <p:nvPr/>
        </p:nvCxnSpPr>
        <p:spPr>
          <a:xfrm>
            <a:off x="5097758" y="4056598"/>
            <a:ext cx="600" cy="205800"/>
          </a:xfrm>
          <a:prstGeom prst="straightConnector1">
            <a:avLst/>
          </a:prstGeom>
          <a:noFill/>
          <a:ln cap="flat" cmpd="sng" w="15225">
            <a:solidFill>
              <a:srgbClr val="6A9DC5"/>
            </a:solidFill>
            <a:prstDash val="solid"/>
            <a:round/>
            <a:headEnd len="sm" w="sm" type="none"/>
            <a:tailEnd len="med" w="med" type="triangle"/>
          </a:ln>
        </p:spPr>
      </p:cxnSp>
      <p:cxnSp>
        <p:nvCxnSpPr>
          <p:cNvPr id="229" name="Google Shape;229;p32"/>
          <p:cNvCxnSpPr>
            <a:stCxn id="196" idx="2"/>
            <a:endCxn id="207" idx="0"/>
          </p:cNvCxnSpPr>
          <p:nvPr/>
        </p:nvCxnSpPr>
        <p:spPr>
          <a:xfrm>
            <a:off x="7904828" y="1230435"/>
            <a:ext cx="9300" cy="906000"/>
          </a:xfrm>
          <a:prstGeom prst="straightConnector1">
            <a:avLst/>
          </a:prstGeom>
          <a:noFill/>
          <a:ln cap="flat" cmpd="sng" w="15225">
            <a:solidFill>
              <a:srgbClr val="6A9DC5"/>
            </a:solidFill>
            <a:prstDash val="solid"/>
            <a:round/>
            <a:headEnd len="sm" w="sm" type="none"/>
            <a:tailEnd len="med" w="med" type="triangle"/>
          </a:ln>
        </p:spPr>
      </p:cxnSp>
      <p:cxnSp>
        <p:nvCxnSpPr>
          <p:cNvPr id="230" name="Google Shape;230;p32"/>
          <p:cNvCxnSpPr/>
          <p:nvPr/>
        </p:nvCxnSpPr>
        <p:spPr>
          <a:xfrm flipH="1">
            <a:off x="5098358" y="2684997"/>
            <a:ext cx="2838600" cy="137100"/>
          </a:xfrm>
          <a:prstGeom prst="straightConnector1">
            <a:avLst/>
          </a:prstGeom>
          <a:noFill/>
          <a:ln cap="flat" cmpd="sng" w="15225">
            <a:solidFill>
              <a:srgbClr val="6A9DC5"/>
            </a:solidFill>
            <a:prstDash val="solid"/>
            <a:round/>
            <a:headEnd len="sm" w="sm" type="none"/>
            <a:tailEnd len="med" w="med" type="triangle"/>
          </a:ln>
        </p:spPr>
      </p:cxnSp>
      <p:cxnSp>
        <p:nvCxnSpPr>
          <p:cNvPr id="231" name="Google Shape;231;p32"/>
          <p:cNvCxnSpPr/>
          <p:nvPr/>
        </p:nvCxnSpPr>
        <p:spPr>
          <a:xfrm>
            <a:off x="2285965" y="2684998"/>
            <a:ext cx="2812500" cy="137100"/>
          </a:xfrm>
          <a:prstGeom prst="straightConnector1">
            <a:avLst/>
          </a:prstGeom>
          <a:noFill/>
          <a:ln cap="flat" cmpd="sng" w="15225">
            <a:solidFill>
              <a:srgbClr val="6A9DC5"/>
            </a:solidFill>
            <a:prstDash val="solid"/>
            <a:round/>
            <a:headEnd len="sm" w="sm" type="none"/>
            <a:tailEnd len="med" w="med" type="triangle"/>
          </a:ln>
        </p:spPr>
      </p:cxnSp>
      <p:cxnSp>
        <p:nvCxnSpPr>
          <p:cNvPr id="232" name="Google Shape;232;p32"/>
          <p:cNvCxnSpPr>
            <a:stCxn id="202" idx="2"/>
            <a:endCxn id="184" idx="3"/>
          </p:cNvCxnSpPr>
          <p:nvPr/>
        </p:nvCxnSpPr>
        <p:spPr>
          <a:xfrm flipH="1">
            <a:off x="3145501" y="1955319"/>
            <a:ext cx="1304400" cy="455400"/>
          </a:xfrm>
          <a:prstGeom prst="straightConnector1">
            <a:avLst/>
          </a:prstGeom>
          <a:noFill/>
          <a:ln cap="flat" cmpd="sng" w="9525">
            <a:solidFill>
              <a:srgbClr val="6A9DC5"/>
            </a:solidFill>
            <a:prstDash val="solid"/>
            <a:round/>
            <a:headEnd len="med" w="med" type="none"/>
            <a:tailEnd len="med" w="med" type="triangle"/>
          </a:ln>
        </p:spPr>
      </p:cxnSp>
      <p:cxnSp>
        <p:nvCxnSpPr>
          <p:cNvPr id="233" name="Google Shape;233;p32"/>
          <p:cNvCxnSpPr>
            <a:stCxn id="200" idx="3"/>
            <a:endCxn id="202" idx="1"/>
          </p:cNvCxnSpPr>
          <p:nvPr/>
        </p:nvCxnSpPr>
        <p:spPr>
          <a:xfrm>
            <a:off x="3168819" y="1687192"/>
            <a:ext cx="321000" cy="600"/>
          </a:xfrm>
          <a:prstGeom prst="straightConnector1">
            <a:avLst/>
          </a:prstGeom>
          <a:noFill/>
          <a:ln cap="flat" cmpd="sng" w="9525">
            <a:solidFill>
              <a:srgbClr val="6A9DC5"/>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type="title"/>
          </p:nvPr>
        </p:nvSpPr>
        <p:spPr>
          <a:xfrm>
            <a:off x="311700" y="468650"/>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SLAM Algorithm</a:t>
            </a:r>
            <a:endParaRPr/>
          </a:p>
        </p:txBody>
      </p:sp>
      <p:sp>
        <p:nvSpPr>
          <p:cNvPr id="239" name="Google Shape;239;p33"/>
          <p:cNvSpPr txBox="1"/>
          <p:nvPr>
            <p:ph idx="1" type="body"/>
          </p:nvPr>
        </p:nvSpPr>
        <p:spPr>
          <a:xfrm>
            <a:off x="311700" y="1152475"/>
            <a:ext cx="8520600" cy="34164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34275" lIns="68575" spcFirstLastPara="1" rIns="68575" wrap="square" tIns="34275">
            <a:normAutofit/>
          </a:bodyPr>
          <a:lstStyle/>
          <a:p>
            <a:pPr indent="-304800" lvl="0" marL="457200" rtl="0" algn="l">
              <a:lnSpc>
                <a:spcPct val="115000"/>
              </a:lnSpc>
              <a:spcBef>
                <a:spcPts val="1000"/>
              </a:spcBef>
              <a:spcAft>
                <a:spcPts val="0"/>
              </a:spcAft>
              <a:buClr>
                <a:schemeClr val="dk1"/>
              </a:buClr>
              <a:buSzPts val="1200"/>
              <a:buFont typeface="Play"/>
              <a:buChar char="●"/>
            </a:pPr>
            <a:r>
              <a:rPr lang="en" sz="1200">
                <a:highlight>
                  <a:schemeClr val="lt1"/>
                </a:highlight>
                <a:latin typeface="Play"/>
                <a:ea typeface="Play"/>
                <a:cs typeface="Play"/>
                <a:sym typeface="Play"/>
              </a:rPr>
              <a:t>Used Google Cartographer for 2D LiDAR SLAM on TurtleBot3</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Pose graph</a:t>
            </a:r>
            <a:r>
              <a:rPr lang="en" sz="1200">
                <a:highlight>
                  <a:schemeClr val="lt1"/>
                </a:highlight>
                <a:latin typeface="Play"/>
                <a:ea typeface="Play"/>
                <a:cs typeface="Play"/>
                <a:sym typeface="Play"/>
              </a:rPr>
              <a:t>: each node = robot pose (x, y, θ); each edge = sensor-derived constraint between poses</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Local layer</a:t>
            </a:r>
            <a:r>
              <a:rPr lang="en" sz="1200">
                <a:highlight>
                  <a:schemeClr val="lt1"/>
                </a:highlight>
                <a:latin typeface="Play"/>
                <a:ea typeface="Play"/>
                <a:cs typeface="Play"/>
                <a:sym typeface="Play"/>
              </a:rPr>
              <a:t> — online correlative scan matching aligns each new LiDAR scan to the current submap; motion filter skips redundant scans (&lt; 0.1° rotation)</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Global layer</a:t>
            </a:r>
            <a:r>
              <a:rPr lang="en" sz="1200">
                <a:highlight>
                  <a:schemeClr val="lt1"/>
                </a:highlight>
                <a:latin typeface="Play"/>
                <a:ea typeface="Play"/>
                <a:cs typeface="Play"/>
                <a:sym typeface="Play"/>
              </a:rPr>
              <a:t> — pose graph optimizer runs every 20 nodes, searches for loop closures (min score 0.65), corrects accumulated drift via Ceres nonlinear least squares</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Play"/>
              <a:buChar char="●"/>
            </a:pPr>
            <a:r>
              <a:rPr lang="en" sz="1200">
                <a:highlight>
                  <a:schemeClr val="lt1"/>
                </a:highlight>
                <a:latin typeface="Play"/>
                <a:ea typeface="Play"/>
                <a:cs typeface="Play"/>
                <a:sym typeface="Play"/>
              </a:rPr>
              <a:t>Fuses wheel odometry + LiDAR for robust pose prediction between scans</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lang="en" sz="1200">
                <a:highlight>
                  <a:schemeClr val="lt1"/>
                </a:highlight>
                <a:latin typeface="Play"/>
                <a:ea typeface="Play"/>
                <a:cs typeface="Play"/>
                <a:sym typeface="Play"/>
              </a:rPr>
              <a:t>Outputs /map (0.05 m/cell occupancy grid) input to frontier explorer and Nav2 costmaps</a:t>
            </a:r>
            <a:endParaRPr sz="1200">
              <a:highlight>
                <a:schemeClr val="lt1"/>
              </a:highlight>
              <a:latin typeface="Play"/>
              <a:ea typeface="Play"/>
              <a:cs typeface="Play"/>
              <a:sym typeface="Play"/>
            </a:endParaRPr>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311700" y="468650"/>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Frontier Exploration Algorithm</a:t>
            </a:r>
            <a:endParaRPr/>
          </a:p>
        </p:txBody>
      </p:sp>
      <p:sp>
        <p:nvSpPr>
          <p:cNvPr id="245" name="Google Shape;245;p34"/>
          <p:cNvSpPr txBox="1"/>
          <p:nvPr>
            <p:ph idx="1" type="body"/>
          </p:nvPr>
        </p:nvSpPr>
        <p:spPr>
          <a:xfrm>
            <a:off x="311700" y="1152475"/>
            <a:ext cx="5871600" cy="34164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34275" lIns="68575" spcFirstLastPara="1" rIns="68575" wrap="square" tIns="34275">
            <a:normAutofit lnSpcReduction="10000"/>
          </a:bodyPr>
          <a:lstStyle/>
          <a:p>
            <a:pPr indent="-304800" lvl="0" marL="457200" rtl="0" algn="l">
              <a:lnSpc>
                <a:spcPct val="115000"/>
              </a:lnSpc>
              <a:spcBef>
                <a:spcPts val="1000"/>
              </a:spcBef>
              <a:spcAft>
                <a:spcPts val="0"/>
              </a:spcAft>
              <a:buClr>
                <a:schemeClr val="dk1"/>
              </a:buClr>
              <a:buSzPts val="1200"/>
              <a:buFont typeface="Roboto"/>
              <a:buChar char="●"/>
            </a:pPr>
            <a:r>
              <a:rPr lang="en" sz="1200">
                <a:highlight>
                  <a:schemeClr val="lt1"/>
                </a:highlight>
                <a:latin typeface="Play"/>
                <a:ea typeface="Play"/>
                <a:cs typeface="Play"/>
                <a:sym typeface="Play"/>
              </a:rPr>
              <a:t>Frontier = boundary between </a:t>
            </a:r>
            <a:r>
              <a:rPr b="1" lang="en" sz="1200">
                <a:highlight>
                  <a:schemeClr val="lt1"/>
                </a:highlight>
                <a:latin typeface="Play"/>
                <a:ea typeface="Play"/>
                <a:cs typeface="Play"/>
                <a:sym typeface="Play"/>
              </a:rPr>
              <a:t>known free space</a:t>
            </a:r>
            <a:r>
              <a:rPr lang="en" sz="1200">
                <a:highlight>
                  <a:schemeClr val="lt1"/>
                </a:highlight>
                <a:latin typeface="Play"/>
                <a:ea typeface="Play"/>
                <a:cs typeface="Play"/>
                <a:sym typeface="Play"/>
              </a:rPr>
              <a:t> and </a:t>
            </a:r>
            <a:r>
              <a:rPr b="1" lang="en" sz="1200">
                <a:highlight>
                  <a:schemeClr val="lt1"/>
                </a:highlight>
                <a:latin typeface="Play"/>
                <a:ea typeface="Play"/>
                <a:cs typeface="Play"/>
                <a:sym typeface="Play"/>
              </a:rPr>
              <a:t>unknown space</a:t>
            </a:r>
            <a:r>
              <a:rPr lang="en" sz="1200">
                <a:highlight>
                  <a:schemeClr val="lt1"/>
                </a:highlight>
                <a:latin typeface="Play"/>
                <a:ea typeface="Play"/>
                <a:cs typeface="Play"/>
                <a:sym typeface="Play"/>
              </a:rPr>
              <a:t> in the occupancy grid — navigating there guarantees new information</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Detection:</a:t>
            </a:r>
            <a:r>
              <a:rPr lang="en" sz="1200">
                <a:highlight>
                  <a:schemeClr val="lt1"/>
                </a:highlight>
                <a:latin typeface="Play"/>
                <a:ea typeface="Play"/>
                <a:cs typeface="Play"/>
                <a:sym typeface="Play"/>
              </a:rPr>
              <a:t> dilate the unknown region by 1 pixel, AND with free-cell mask → frontier pixels; cluster with connected component labeling; discard small clusters &lt; 10 cells</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Selection strategy — Weighted (default):</a:t>
            </a:r>
            <a:r>
              <a:rPr lang="en" sz="1200">
                <a:highlight>
                  <a:schemeClr val="lt1"/>
                </a:highlight>
                <a:latin typeface="Play"/>
                <a:ea typeface="Play"/>
                <a:cs typeface="Play"/>
                <a:sym typeface="Play"/>
              </a:rPr>
              <a:t> score = frontier_size / (distance_to_robot + 1) — balances information gain vs. travel cost for efficient full-room coverage</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Failure recovery:</a:t>
            </a:r>
            <a:r>
              <a:rPr lang="en" sz="1200">
                <a:highlight>
                  <a:schemeClr val="lt1"/>
                </a:highlight>
                <a:latin typeface="Play"/>
                <a:ea typeface="Play"/>
                <a:cs typeface="Play"/>
                <a:sym typeface="Play"/>
              </a:rPr>
              <a:t> if robot gets stuck (no movement &gt; 0.3m in 45s), switches to </a:t>
            </a:r>
            <a:r>
              <a:rPr b="1" lang="en" sz="1200">
                <a:highlight>
                  <a:schemeClr val="lt1"/>
                </a:highlight>
                <a:latin typeface="Play"/>
                <a:ea typeface="Play"/>
                <a:cs typeface="Play"/>
                <a:sym typeface="Play"/>
              </a:rPr>
              <a:t>Farthest</a:t>
            </a:r>
            <a:r>
              <a:rPr lang="en" sz="1200">
                <a:highlight>
                  <a:schemeClr val="lt1"/>
                </a:highlight>
                <a:latin typeface="Play"/>
                <a:ea typeface="Play"/>
                <a:cs typeface="Play"/>
                <a:sym typeface="Play"/>
              </a:rPr>
              <a:t> strategy to escape corners and revisit-locked regions</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Play"/>
              <a:buChar char="●"/>
            </a:pPr>
            <a:r>
              <a:rPr lang="en" sz="1200">
                <a:highlight>
                  <a:schemeClr val="lt1"/>
                </a:highlight>
                <a:latin typeface="Play"/>
                <a:ea typeface="Play"/>
                <a:cs typeface="Play"/>
                <a:sym typeface="Play"/>
              </a:rPr>
              <a:t>Visited frontiers tracked — prevents re-sending robot to already-explored locations</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Play"/>
              <a:buChar char="●"/>
            </a:pPr>
            <a:r>
              <a:rPr lang="en" sz="1200">
                <a:highlight>
                  <a:schemeClr val="lt1"/>
                </a:highlight>
                <a:latin typeface="Play"/>
                <a:ea typeface="Play"/>
                <a:cs typeface="Play"/>
                <a:sym typeface="Play"/>
              </a:rPr>
              <a:t>Exploration terminates when no frontier clusters remain (full coverage)</a:t>
            </a:r>
            <a:endParaRPr sz="1200">
              <a:highlight>
                <a:schemeClr val="lt1"/>
              </a:highlight>
              <a:latin typeface="Play"/>
              <a:ea typeface="Play"/>
              <a:cs typeface="Play"/>
              <a:sym typeface="Play"/>
            </a:endParaRPr>
          </a:p>
          <a:p>
            <a:pPr indent="-304800" lvl="0" marL="457200" rtl="0" algn="l">
              <a:lnSpc>
                <a:spcPct val="115000"/>
              </a:lnSpc>
              <a:spcBef>
                <a:spcPts val="0"/>
              </a:spcBef>
              <a:spcAft>
                <a:spcPts val="0"/>
              </a:spcAft>
              <a:buClr>
                <a:schemeClr val="dk1"/>
              </a:buClr>
              <a:buSzPts val="1200"/>
              <a:buFont typeface="Roboto"/>
              <a:buChar char="●"/>
            </a:pPr>
            <a:r>
              <a:rPr b="1" lang="en" sz="1200">
                <a:highlight>
                  <a:schemeClr val="lt1"/>
                </a:highlight>
                <a:latin typeface="Play"/>
                <a:ea typeface="Play"/>
                <a:cs typeface="Play"/>
                <a:sym typeface="Play"/>
              </a:rPr>
              <a:t>Tightly coupled with semantic mapping:</a:t>
            </a:r>
            <a:r>
              <a:rPr lang="en" sz="1200">
                <a:highlight>
                  <a:schemeClr val="lt1"/>
                </a:highlight>
                <a:latin typeface="Play"/>
                <a:ea typeface="Play"/>
                <a:cs typeface="Play"/>
                <a:sym typeface="Play"/>
              </a:rPr>
              <a:t> Grounding DINO runs every 1.5m of travel during exploration, populating the semantic map in parallel</a:t>
            </a:r>
            <a:endParaRPr sz="1200">
              <a:highlight>
                <a:schemeClr val="lt1"/>
              </a:highlight>
              <a:latin typeface="Play"/>
              <a:ea typeface="Play"/>
              <a:cs typeface="Play"/>
              <a:sym typeface="Play"/>
            </a:endParaRPr>
          </a:p>
          <a:p>
            <a:pPr indent="0" lvl="0" marL="0" rtl="0" algn="l">
              <a:spcBef>
                <a:spcPts val="1000"/>
              </a:spcBef>
              <a:spcAft>
                <a:spcPts val="0"/>
              </a:spcAft>
              <a:buNone/>
            </a:pPr>
            <a:r>
              <a:t/>
            </a:r>
            <a:endParaRPr/>
          </a:p>
        </p:txBody>
      </p:sp>
      <p:pic>
        <p:nvPicPr>
          <p:cNvPr id="246" name="Google Shape;246;p34" title="Screenshot 2026-04-20 at 8.05.48 PM.png"/>
          <p:cNvPicPr preferRelativeResize="0"/>
          <p:nvPr/>
        </p:nvPicPr>
        <p:blipFill>
          <a:blip r:embed="rId3">
            <a:alphaModFix/>
          </a:blip>
          <a:stretch>
            <a:fillRect/>
          </a:stretch>
        </p:blipFill>
        <p:spPr>
          <a:xfrm>
            <a:off x="6131100" y="1543323"/>
            <a:ext cx="2920000" cy="156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Object Detection with Grounding Dino</a:t>
            </a:r>
            <a:endParaRPr/>
          </a:p>
        </p:txBody>
      </p:sp>
      <p:sp>
        <p:nvSpPr>
          <p:cNvPr id="252" name="Google Shape;252;p35"/>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p>
            <a:pPr indent="-336550" lvl="0" marL="457200" rtl="0" algn="l">
              <a:lnSpc>
                <a:spcPct val="115000"/>
              </a:lnSpc>
              <a:spcBef>
                <a:spcPts val="1000"/>
              </a:spcBef>
              <a:spcAft>
                <a:spcPts val="0"/>
              </a:spcAft>
              <a:buClr>
                <a:schemeClr val="dk1"/>
              </a:buClr>
              <a:buSzPts val="1700"/>
              <a:buFont typeface="Roboto"/>
              <a:buChar char="●"/>
            </a:pPr>
            <a:r>
              <a:rPr b="1" lang="en" sz="1600">
                <a:latin typeface="Play"/>
                <a:ea typeface="Play"/>
                <a:cs typeface="Play"/>
                <a:sym typeface="Play"/>
              </a:rPr>
              <a:t>Triggered during exploration (every ~1.5 m):</a:t>
            </a:r>
            <a:r>
              <a:rPr lang="en" sz="1600">
                <a:latin typeface="Play"/>
                <a:ea typeface="Play"/>
                <a:cs typeface="Play"/>
                <a:sym typeface="Play"/>
              </a:rPr>
              <a:t> Runs in parallel with frontier exploration to detect objects without stopping navigation</a:t>
            </a:r>
            <a:endParaRPr sz="1700">
              <a:highlight>
                <a:schemeClr val="lt1"/>
              </a:highlight>
              <a:latin typeface="Play"/>
              <a:ea typeface="Play"/>
              <a:cs typeface="Play"/>
              <a:sym typeface="Play"/>
            </a:endParaRPr>
          </a:p>
          <a:p>
            <a:pPr indent="-336550" lvl="0" marL="457200" rtl="0" algn="l">
              <a:lnSpc>
                <a:spcPct val="115000"/>
              </a:lnSpc>
              <a:spcBef>
                <a:spcPts val="0"/>
              </a:spcBef>
              <a:spcAft>
                <a:spcPts val="0"/>
              </a:spcAft>
              <a:buClr>
                <a:schemeClr val="dk1"/>
              </a:buClr>
              <a:buSzPts val="1700"/>
              <a:buFont typeface="Roboto"/>
              <a:buChar char="●"/>
            </a:pPr>
            <a:r>
              <a:rPr b="1" lang="en" sz="1600">
                <a:latin typeface="Play"/>
                <a:ea typeface="Play"/>
                <a:cs typeface="Play"/>
                <a:sym typeface="Play"/>
              </a:rPr>
              <a:t>Open-vocabulary detection:</a:t>
            </a:r>
            <a:r>
              <a:rPr lang="en" sz="1600">
                <a:latin typeface="Play"/>
                <a:ea typeface="Play"/>
                <a:cs typeface="Play"/>
                <a:sym typeface="Play"/>
              </a:rPr>
              <a:t> Uses text prompts (e.g., </a:t>
            </a:r>
            <a:r>
              <a:rPr i="1" lang="en" sz="1600">
                <a:latin typeface="Play"/>
                <a:ea typeface="Play"/>
                <a:cs typeface="Play"/>
                <a:sym typeface="Play"/>
              </a:rPr>
              <a:t>“red cylinder”</a:t>
            </a:r>
            <a:r>
              <a:rPr lang="en" sz="1600">
                <a:latin typeface="Play"/>
                <a:ea typeface="Play"/>
                <a:cs typeface="Play"/>
                <a:sym typeface="Play"/>
              </a:rPr>
              <a:t>, </a:t>
            </a:r>
            <a:r>
              <a:rPr i="1" lang="en" sz="1600">
                <a:latin typeface="Play"/>
                <a:ea typeface="Play"/>
                <a:cs typeface="Play"/>
                <a:sym typeface="Play"/>
              </a:rPr>
              <a:t>“blue box”</a:t>
            </a:r>
            <a:r>
              <a:rPr lang="en" sz="1600">
                <a:latin typeface="Play"/>
                <a:ea typeface="Play"/>
                <a:cs typeface="Play"/>
                <a:sym typeface="Play"/>
              </a:rPr>
              <a:t>) to detect unseen object categories</a:t>
            </a:r>
            <a:endParaRPr sz="1700">
              <a:highlight>
                <a:schemeClr val="lt1"/>
              </a:highlight>
              <a:latin typeface="Play"/>
              <a:ea typeface="Play"/>
              <a:cs typeface="Play"/>
              <a:sym typeface="Play"/>
            </a:endParaRPr>
          </a:p>
          <a:p>
            <a:pPr indent="-336550" lvl="0" marL="457200" rtl="0" algn="l">
              <a:lnSpc>
                <a:spcPct val="115000"/>
              </a:lnSpc>
              <a:spcBef>
                <a:spcPts val="0"/>
              </a:spcBef>
              <a:spcAft>
                <a:spcPts val="0"/>
              </a:spcAft>
              <a:buClr>
                <a:schemeClr val="dk1"/>
              </a:buClr>
              <a:buSzPts val="1700"/>
              <a:buFont typeface="Roboto"/>
              <a:buChar char="●"/>
            </a:pPr>
            <a:r>
              <a:rPr b="1" lang="en" sz="1600">
                <a:latin typeface="Play"/>
                <a:ea typeface="Play"/>
                <a:cs typeface="Play"/>
                <a:sym typeface="Play"/>
              </a:rPr>
              <a:t>CPU-based inference (5–10 s/image):</a:t>
            </a:r>
            <a:r>
              <a:rPr lang="en" sz="1600">
                <a:latin typeface="Play"/>
                <a:ea typeface="Play"/>
                <a:cs typeface="Play"/>
                <a:sym typeface="Play"/>
              </a:rPr>
              <a:t> Works without GPU but limits real-time performance</a:t>
            </a:r>
            <a:endParaRPr sz="1700">
              <a:highlight>
                <a:schemeClr val="lt1"/>
              </a:highlight>
              <a:latin typeface="Play"/>
              <a:ea typeface="Play"/>
              <a:cs typeface="Play"/>
              <a:sym typeface="Play"/>
            </a:endParaRPr>
          </a:p>
          <a:p>
            <a:pPr indent="-336550" lvl="0" marL="457200" rtl="0" algn="l">
              <a:lnSpc>
                <a:spcPct val="115000"/>
              </a:lnSpc>
              <a:spcBef>
                <a:spcPts val="0"/>
              </a:spcBef>
              <a:spcAft>
                <a:spcPts val="0"/>
              </a:spcAft>
              <a:buClr>
                <a:schemeClr val="dk1"/>
              </a:buClr>
              <a:buSzPts val="1700"/>
              <a:buFont typeface="Roboto"/>
              <a:buChar char="●"/>
            </a:pPr>
            <a:r>
              <a:rPr b="1" lang="en" sz="1600">
                <a:latin typeface="Play"/>
                <a:ea typeface="Play"/>
                <a:cs typeface="Play"/>
                <a:sym typeface="Play"/>
              </a:rPr>
              <a:t>Confidence filtering &amp; ranking:</a:t>
            </a:r>
            <a:r>
              <a:rPr lang="en" sz="1600">
                <a:latin typeface="Play"/>
                <a:ea typeface="Play"/>
                <a:cs typeface="Play"/>
                <a:sym typeface="Play"/>
              </a:rPr>
              <a:t> Threshold (~0.28) removes noise; detections sorted before downstream processing</a:t>
            </a:r>
            <a:endParaRPr sz="1700">
              <a:highlight>
                <a:schemeClr val="lt1"/>
              </a:highlight>
              <a:latin typeface="Play"/>
              <a:ea typeface="Play"/>
              <a:cs typeface="Play"/>
              <a:sym typeface="Play"/>
            </a:endParaRPr>
          </a:p>
          <a:p>
            <a:pPr indent="-336550" lvl="0" marL="457200" rtl="0" algn="l">
              <a:lnSpc>
                <a:spcPct val="115000"/>
              </a:lnSpc>
              <a:spcBef>
                <a:spcPts val="0"/>
              </a:spcBef>
              <a:spcAft>
                <a:spcPts val="0"/>
              </a:spcAft>
              <a:buClr>
                <a:schemeClr val="dk1"/>
              </a:buClr>
              <a:buSzPts val="1700"/>
              <a:buFont typeface="Roboto"/>
              <a:buChar char="●"/>
            </a:pPr>
            <a:r>
              <a:rPr b="1" lang="en" sz="1600">
                <a:latin typeface="Play"/>
                <a:ea typeface="Play"/>
                <a:cs typeface="Play"/>
                <a:sym typeface="Play"/>
              </a:rPr>
              <a:t>Label cleaning heuristic:</a:t>
            </a:r>
            <a:r>
              <a:rPr lang="en" sz="1600">
                <a:latin typeface="Play"/>
                <a:ea typeface="Play"/>
                <a:cs typeface="Play"/>
                <a:sym typeface="Play"/>
              </a:rPr>
              <a:t> Fixes merged labels (e.g., </a:t>
            </a:r>
            <a:r>
              <a:rPr i="1" lang="en" sz="1600">
                <a:latin typeface="Play"/>
                <a:ea typeface="Play"/>
                <a:cs typeface="Play"/>
                <a:sym typeface="Play"/>
              </a:rPr>
              <a:t>“red cylinder blue box”</a:t>
            </a:r>
            <a:r>
              <a:rPr lang="en" sz="1600">
                <a:latin typeface="Play"/>
                <a:ea typeface="Play"/>
                <a:cs typeface="Play"/>
                <a:sym typeface="Play"/>
              </a:rPr>
              <a:t>) by matching to valid prompt terms</a:t>
            </a:r>
            <a:endParaRPr sz="1700">
              <a:highlight>
                <a:schemeClr val="lt1"/>
              </a:highlight>
              <a:latin typeface="Play"/>
              <a:ea typeface="Play"/>
              <a:cs typeface="Play"/>
              <a:sym typeface="Play"/>
            </a:endParaRPr>
          </a:p>
          <a:p>
            <a:pPr indent="0" lvl="0" marL="0" rtl="0" algn="l">
              <a:spcBef>
                <a:spcPts val="1000"/>
              </a:spcBef>
              <a:spcAft>
                <a:spcPts val="0"/>
              </a:spcAft>
              <a:buClr>
                <a:schemeClr val="dk1"/>
              </a:buClr>
              <a:buSzPts val="1100"/>
              <a:buFont typeface="Arial"/>
              <a:buNone/>
            </a:pPr>
            <a:r>
              <a:t/>
            </a:r>
            <a:endParaRPr sz="2300"/>
          </a:p>
          <a:p>
            <a:pPr indent="0" lvl="0" marL="0" rtl="0" algn="l">
              <a:spcBef>
                <a:spcPts val="800"/>
              </a:spcBef>
              <a:spcAft>
                <a:spcPts val="0"/>
              </a:spcAft>
              <a:buNone/>
            </a:pPr>
            <a:r>
              <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311700" y="445025"/>
            <a:ext cx="8520600" cy="572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lang="en"/>
              <a:t>3D Object Localization from 2D Bounding Boxes</a:t>
            </a:r>
            <a:endParaRPr/>
          </a:p>
        </p:txBody>
      </p:sp>
      <p:sp>
        <p:nvSpPr>
          <p:cNvPr id="258" name="Google Shape;258;p36"/>
          <p:cNvSpPr txBox="1"/>
          <p:nvPr>
            <p:ph idx="1" type="body"/>
          </p:nvPr>
        </p:nvSpPr>
        <p:spPr>
          <a:xfrm>
            <a:off x="311700" y="1152475"/>
            <a:ext cx="8520600" cy="3416400"/>
          </a:xfrm>
          <a:prstGeom prst="rect">
            <a:avLst/>
          </a:prstGeom>
        </p:spPr>
        <p:txBody>
          <a:bodyPr anchorCtr="0" anchor="t" bIns="34275" lIns="68575" spcFirstLastPara="1" rIns="68575" wrap="square" tIns="34275">
            <a:normAutofit fontScale="25000" lnSpcReduction="20000"/>
          </a:bodyPr>
          <a:lstStyle/>
          <a:p>
            <a:pPr indent="-324836" lvl="0" marL="457200" rtl="0" algn="l">
              <a:lnSpc>
                <a:spcPct val="115000"/>
              </a:lnSpc>
              <a:spcBef>
                <a:spcPts val="1000"/>
              </a:spcBef>
              <a:spcAft>
                <a:spcPts val="0"/>
              </a:spcAft>
              <a:buClr>
                <a:schemeClr val="dk1"/>
              </a:buClr>
              <a:buSzPct val="107065"/>
              <a:buFont typeface="Roboto"/>
              <a:buChar char="●"/>
            </a:pPr>
            <a:r>
              <a:rPr b="1" lang="en" sz="5662">
                <a:latin typeface="Play"/>
                <a:ea typeface="Play"/>
                <a:cs typeface="Play"/>
                <a:sym typeface="Play"/>
              </a:rPr>
              <a:t>3-step pipeline:</a:t>
            </a:r>
            <a:r>
              <a:rPr lang="en" sz="5662">
                <a:latin typeface="Play"/>
                <a:ea typeface="Play"/>
                <a:cs typeface="Play"/>
                <a:sym typeface="Play"/>
              </a:rPr>
              <a:t> Converts 2D detections into real-world 3D positions</a:t>
            </a:r>
            <a:endParaRPr sz="6062">
              <a:highlight>
                <a:schemeClr val="lt1"/>
              </a:highlight>
              <a:latin typeface="Play"/>
              <a:ea typeface="Play"/>
              <a:cs typeface="Play"/>
              <a:sym typeface="Play"/>
            </a:endParaRPr>
          </a:p>
          <a:p>
            <a:pPr indent="-324836" lvl="0" marL="457200" rtl="0" algn="l">
              <a:lnSpc>
                <a:spcPct val="115000"/>
              </a:lnSpc>
              <a:spcBef>
                <a:spcPts val="0"/>
              </a:spcBef>
              <a:spcAft>
                <a:spcPts val="0"/>
              </a:spcAft>
              <a:buClr>
                <a:schemeClr val="dk1"/>
              </a:buClr>
              <a:buSzPct val="107065"/>
              <a:buFont typeface="Roboto"/>
              <a:buChar char="●"/>
            </a:pPr>
            <a:r>
              <a:rPr b="1" lang="en" sz="5662">
                <a:latin typeface="Play"/>
                <a:ea typeface="Play"/>
                <a:cs typeface="Play"/>
                <a:sym typeface="Play"/>
              </a:rPr>
              <a:t>Depth estimation:</a:t>
            </a:r>
            <a:r>
              <a:rPr lang="en" sz="5662">
                <a:latin typeface="Play"/>
                <a:ea typeface="Play"/>
                <a:cs typeface="Play"/>
                <a:sym typeface="Play"/>
              </a:rPr>
              <a:t> Median depth from central region of bounding box; filters invalid values (0.1–10 m)</a:t>
            </a:r>
            <a:endParaRPr sz="6062">
              <a:highlight>
                <a:schemeClr val="lt1"/>
              </a:highlight>
              <a:latin typeface="Play"/>
              <a:ea typeface="Play"/>
              <a:cs typeface="Play"/>
              <a:sym typeface="Play"/>
            </a:endParaRPr>
          </a:p>
          <a:p>
            <a:pPr indent="-324836" lvl="0" marL="457200" rtl="0" algn="l">
              <a:lnSpc>
                <a:spcPct val="115000"/>
              </a:lnSpc>
              <a:spcBef>
                <a:spcPts val="0"/>
              </a:spcBef>
              <a:spcAft>
                <a:spcPts val="0"/>
              </a:spcAft>
              <a:buClr>
                <a:schemeClr val="dk1"/>
              </a:buClr>
              <a:buSzPct val="107065"/>
              <a:buFont typeface="Roboto"/>
              <a:buChar char="●"/>
            </a:pPr>
            <a:r>
              <a:rPr b="1" lang="en" sz="5662">
                <a:latin typeface="Play"/>
                <a:ea typeface="Play"/>
                <a:cs typeface="Play"/>
                <a:sym typeface="Play"/>
              </a:rPr>
              <a:t>Camera projection:</a:t>
            </a:r>
            <a:r>
              <a:rPr lang="en" sz="5662">
                <a:latin typeface="Play"/>
                <a:ea typeface="Play"/>
                <a:cs typeface="Play"/>
                <a:sym typeface="Play"/>
              </a:rPr>
              <a:t> Uses pinhole model to map image pixel → 3D camera coordinates</a:t>
            </a:r>
            <a:endParaRPr sz="5662">
              <a:latin typeface="Play"/>
              <a:ea typeface="Play"/>
              <a:cs typeface="Play"/>
              <a:sym typeface="Play"/>
            </a:endParaRPr>
          </a:p>
          <a:p>
            <a:pPr indent="0" lvl="0" marL="0" rtl="0" algn="l">
              <a:lnSpc>
                <a:spcPct val="115000"/>
              </a:lnSpc>
              <a:spcBef>
                <a:spcPts val="1000"/>
              </a:spcBef>
              <a:spcAft>
                <a:spcPts val="0"/>
              </a:spcAft>
              <a:buNone/>
            </a:pPr>
            <a:r>
              <a:t/>
            </a:r>
            <a:endParaRPr sz="5662">
              <a:latin typeface="Play"/>
              <a:ea typeface="Play"/>
              <a:cs typeface="Play"/>
              <a:sym typeface="Play"/>
            </a:endParaRPr>
          </a:p>
          <a:p>
            <a:pPr indent="0" lvl="0" marL="0" rtl="0" algn="l">
              <a:lnSpc>
                <a:spcPct val="115000"/>
              </a:lnSpc>
              <a:spcBef>
                <a:spcPts val="1000"/>
              </a:spcBef>
              <a:spcAft>
                <a:spcPts val="0"/>
              </a:spcAft>
              <a:buNone/>
            </a:pPr>
            <a:r>
              <a:t/>
            </a:r>
            <a:endParaRPr sz="5662">
              <a:latin typeface="Play"/>
              <a:ea typeface="Play"/>
              <a:cs typeface="Play"/>
              <a:sym typeface="Play"/>
            </a:endParaRPr>
          </a:p>
          <a:p>
            <a:pPr indent="0" lvl="0" marL="457200" rtl="0" algn="l">
              <a:lnSpc>
                <a:spcPct val="115000"/>
              </a:lnSpc>
              <a:spcBef>
                <a:spcPts val="1000"/>
              </a:spcBef>
              <a:spcAft>
                <a:spcPts val="0"/>
              </a:spcAft>
              <a:buNone/>
            </a:pPr>
            <a:r>
              <a:t/>
            </a:r>
            <a:endParaRPr sz="5662">
              <a:latin typeface="Play"/>
              <a:ea typeface="Play"/>
              <a:cs typeface="Play"/>
              <a:sym typeface="Play"/>
            </a:endParaRPr>
          </a:p>
          <a:p>
            <a:pPr indent="-324836" lvl="0" marL="457200" rtl="0" algn="l">
              <a:lnSpc>
                <a:spcPct val="115000"/>
              </a:lnSpc>
              <a:spcBef>
                <a:spcPts val="1000"/>
              </a:spcBef>
              <a:spcAft>
                <a:spcPts val="0"/>
              </a:spcAft>
              <a:buClr>
                <a:schemeClr val="dk1"/>
              </a:buClr>
              <a:buSzPct val="107065"/>
              <a:buFont typeface="Roboto"/>
              <a:buChar char="●"/>
            </a:pPr>
            <a:r>
              <a:rPr b="1" lang="en" sz="5662">
                <a:latin typeface="Play"/>
                <a:ea typeface="Play"/>
                <a:cs typeface="Play"/>
                <a:sym typeface="Play"/>
              </a:rPr>
              <a:t>World transformation:</a:t>
            </a:r>
            <a:r>
              <a:rPr lang="en" sz="5662">
                <a:latin typeface="Play"/>
                <a:ea typeface="Play"/>
                <a:cs typeface="Play"/>
                <a:sym typeface="Play"/>
              </a:rPr>
              <a:t> Converts camera coordinates to global frame using ROS2 TF</a:t>
            </a:r>
            <a:endParaRPr sz="5662">
              <a:latin typeface="Play"/>
              <a:ea typeface="Play"/>
              <a:cs typeface="Play"/>
              <a:sym typeface="Play"/>
            </a:endParaRPr>
          </a:p>
          <a:p>
            <a:pPr indent="0" lvl="0" marL="0" rtl="0" algn="l">
              <a:lnSpc>
                <a:spcPct val="115000"/>
              </a:lnSpc>
              <a:spcBef>
                <a:spcPts val="1000"/>
              </a:spcBef>
              <a:spcAft>
                <a:spcPts val="0"/>
              </a:spcAft>
              <a:buNone/>
            </a:pPr>
            <a:r>
              <a:t/>
            </a:r>
            <a:endParaRPr sz="5662">
              <a:latin typeface="Play"/>
              <a:ea typeface="Play"/>
              <a:cs typeface="Play"/>
              <a:sym typeface="Play"/>
            </a:endParaRPr>
          </a:p>
          <a:p>
            <a:pPr indent="0" lvl="0" marL="0" rtl="0" algn="l">
              <a:lnSpc>
                <a:spcPct val="115000"/>
              </a:lnSpc>
              <a:spcBef>
                <a:spcPts val="1000"/>
              </a:spcBef>
              <a:spcAft>
                <a:spcPts val="0"/>
              </a:spcAft>
              <a:buNone/>
            </a:pPr>
            <a:r>
              <a:t/>
            </a:r>
            <a:endParaRPr sz="5662">
              <a:latin typeface="Play"/>
              <a:ea typeface="Play"/>
              <a:cs typeface="Play"/>
              <a:sym typeface="Play"/>
            </a:endParaRPr>
          </a:p>
          <a:p>
            <a:pPr indent="-324836" lvl="0" marL="457200" rtl="0" algn="l">
              <a:lnSpc>
                <a:spcPct val="115000"/>
              </a:lnSpc>
              <a:spcBef>
                <a:spcPts val="1000"/>
              </a:spcBef>
              <a:spcAft>
                <a:spcPts val="0"/>
              </a:spcAft>
              <a:buClr>
                <a:schemeClr val="dk1"/>
              </a:buClr>
              <a:buSzPct val="107065"/>
              <a:buFont typeface="Play"/>
              <a:buChar char="●"/>
            </a:pPr>
            <a:r>
              <a:rPr b="1" lang="en" sz="5662">
                <a:latin typeface="Play"/>
                <a:ea typeface="Play"/>
                <a:cs typeface="Play"/>
                <a:sym typeface="Play"/>
              </a:rPr>
              <a:t>Key limitation:</a:t>
            </a:r>
            <a:r>
              <a:rPr lang="en" sz="5662">
                <a:latin typeface="Play"/>
                <a:ea typeface="Play"/>
                <a:cs typeface="Play"/>
                <a:sym typeface="Play"/>
              </a:rPr>
              <a:t> Camera intrinsic mismatch (~13%) introduces noticeable localization error</a:t>
            </a:r>
            <a:endParaRPr sz="6062">
              <a:highlight>
                <a:schemeClr val="lt1"/>
              </a:highlight>
              <a:latin typeface="Play"/>
              <a:ea typeface="Play"/>
              <a:cs typeface="Play"/>
              <a:sym typeface="Play"/>
            </a:endParaRPr>
          </a:p>
          <a:p>
            <a:pPr indent="0" lvl="0" marL="457200" rtl="0" algn="l">
              <a:lnSpc>
                <a:spcPct val="115000"/>
              </a:lnSpc>
              <a:spcBef>
                <a:spcPts val="1000"/>
              </a:spcBef>
              <a:spcAft>
                <a:spcPts val="0"/>
              </a:spcAft>
              <a:buNone/>
            </a:pPr>
            <a:r>
              <a:t/>
            </a:r>
            <a:endParaRPr sz="1500">
              <a:highlight>
                <a:schemeClr val="lt1"/>
              </a:highlight>
              <a:latin typeface="Play"/>
              <a:ea typeface="Play"/>
              <a:cs typeface="Play"/>
              <a:sym typeface="Play"/>
            </a:endParaRPr>
          </a:p>
          <a:p>
            <a:pPr indent="0" lvl="0" marL="0" rtl="0" algn="l">
              <a:spcBef>
                <a:spcPts val="1000"/>
              </a:spcBef>
              <a:spcAft>
                <a:spcPts val="0"/>
              </a:spcAft>
              <a:buClr>
                <a:schemeClr val="dk1"/>
              </a:buClr>
              <a:buSzPct val="52381"/>
              <a:buFont typeface="Arial"/>
              <a:buNone/>
            </a:pPr>
            <a:r>
              <a:t/>
            </a:r>
            <a:endParaRPr/>
          </a:p>
          <a:p>
            <a:pPr indent="0" lvl="0" marL="0" rtl="0" algn="l">
              <a:spcBef>
                <a:spcPts val="800"/>
              </a:spcBef>
              <a:spcAft>
                <a:spcPts val="0"/>
              </a:spcAft>
              <a:buClr>
                <a:schemeClr val="dk1"/>
              </a:buClr>
              <a:buSzPct val="52381"/>
              <a:buFont typeface="Arial"/>
              <a:buNone/>
            </a:pPr>
            <a:r>
              <a:t/>
            </a:r>
            <a:endParaRPr/>
          </a:p>
          <a:p>
            <a:pPr indent="0" lvl="0" marL="0" rtl="0" algn="l">
              <a:spcBef>
                <a:spcPts val="800"/>
              </a:spcBef>
              <a:spcAft>
                <a:spcPts val="0"/>
              </a:spcAft>
              <a:buNone/>
            </a:pPr>
            <a:r>
              <a:t/>
            </a:r>
            <a:endParaRPr/>
          </a:p>
        </p:txBody>
      </p:sp>
      <p:pic>
        <p:nvPicPr>
          <p:cNvPr id="259" name="Google Shape;259;p36"/>
          <p:cNvPicPr preferRelativeResize="0"/>
          <p:nvPr/>
        </p:nvPicPr>
        <p:blipFill>
          <a:blip r:embed="rId3">
            <a:alphaModFix/>
          </a:blip>
          <a:stretch>
            <a:fillRect/>
          </a:stretch>
        </p:blipFill>
        <p:spPr>
          <a:xfrm>
            <a:off x="2640700" y="2185988"/>
            <a:ext cx="2857500" cy="771525"/>
          </a:xfrm>
          <a:prstGeom prst="rect">
            <a:avLst/>
          </a:prstGeom>
          <a:noFill/>
          <a:ln>
            <a:noFill/>
          </a:ln>
        </p:spPr>
      </p:pic>
      <p:pic>
        <p:nvPicPr>
          <p:cNvPr id="260" name="Google Shape;260;p36"/>
          <p:cNvPicPr preferRelativeResize="0"/>
          <p:nvPr/>
        </p:nvPicPr>
        <p:blipFill>
          <a:blip r:embed="rId4">
            <a:alphaModFix/>
          </a:blip>
          <a:stretch>
            <a:fillRect/>
          </a:stretch>
        </p:blipFill>
        <p:spPr>
          <a:xfrm>
            <a:off x="3566900" y="3697625"/>
            <a:ext cx="1005099" cy="269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7"/>
          <p:cNvSpPr txBox="1"/>
          <p:nvPr>
            <p:ph type="title"/>
          </p:nvPr>
        </p:nvSpPr>
        <p:spPr>
          <a:xfrm>
            <a:off x="311700" y="169219"/>
            <a:ext cx="8520600" cy="572700"/>
          </a:xfrm>
          <a:prstGeom prst="rect">
            <a:avLst/>
          </a:prstGeom>
        </p:spPr>
        <p:txBody>
          <a:bodyPr anchorCtr="0" anchor="ctr" bIns="34275" lIns="68575" spcFirstLastPara="1" rIns="68575" wrap="square" tIns="34275">
            <a:normAutofit/>
          </a:bodyPr>
          <a:lstStyle/>
          <a:p>
            <a:pPr indent="0" lvl="0" marL="0" marR="0" rtl="0" algn="ctr">
              <a:lnSpc>
                <a:spcPct val="100000"/>
              </a:lnSpc>
              <a:spcBef>
                <a:spcPts val="800"/>
              </a:spcBef>
              <a:spcAft>
                <a:spcPts val="0"/>
              </a:spcAft>
              <a:buNone/>
            </a:pPr>
            <a:r>
              <a:rPr lang="en" sz="3000"/>
              <a:t>System Integration</a:t>
            </a:r>
            <a:endParaRPr sz="3000"/>
          </a:p>
        </p:txBody>
      </p:sp>
      <p:sp>
        <p:nvSpPr>
          <p:cNvPr id="266" name="Google Shape;266;p37"/>
          <p:cNvSpPr txBox="1"/>
          <p:nvPr>
            <p:ph idx="1" type="body"/>
          </p:nvPr>
        </p:nvSpPr>
        <p:spPr>
          <a:xfrm>
            <a:off x="118800" y="1032530"/>
            <a:ext cx="4453200" cy="4039800"/>
          </a:xfrm>
          <a:prstGeom prst="rect">
            <a:avLst/>
          </a:prstGeom>
        </p:spPr>
        <p:txBody>
          <a:bodyPr anchorCtr="0" anchor="t" bIns="34275" lIns="68575" spcFirstLastPara="1" rIns="68575" wrap="square" tIns="34275">
            <a:noAutofit/>
          </a:bodyPr>
          <a:lstStyle/>
          <a:p>
            <a:pPr indent="0" lvl="0" marL="0" marR="0" rtl="0" algn="just">
              <a:lnSpc>
                <a:spcPct val="115000"/>
              </a:lnSpc>
              <a:spcBef>
                <a:spcPts val="1200"/>
              </a:spcBef>
              <a:spcAft>
                <a:spcPts val="0"/>
              </a:spcAft>
              <a:buNone/>
            </a:pPr>
            <a:r>
              <a:rPr lang="en" sz="1300">
                <a:highlight>
                  <a:schemeClr val="lt1"/>
                </a:highlight>
                <a:latin typeface="Play"/>
                <a:ea typeface="Play"/>
                <a:cs typeface="Play"/>
                <a:sym typeface="Play"/>
              </a:rPr>
              <a:t>Once all individual modules are built, they need a single coordinator to tie them together.</a:t>
            </a:r>
            <a:endParaRPr sz="1300">
              <a:highlight>
                <a:schemeClr val="lt1"/>
              </a:highlight>
              <a:latin typeface="Play"/>
              <a:ea typeface="Play"/>
              <a:cs typeface="Play"/>
              <a:sym typeface="Play"/>
            </a:endParaRPr>
          </a:p>
          <a:p>
            <a:pPr indent="0" lvl="0" marL="0" marR="0" rtl="0" algn="just">
              <a:lnSpc>
                <a:spcPct val="115000"/>
              </a:lnSpc>
              <a:spcBef>
                <a:spcPts val="1200"/>
              </a:spcBef>
              <a:spcAft>
                <a:spcPts val="0"/>
              </a:spcAft>
              <a:buNone/>
            </a:pPr>
            <a:r>
              <a:rPr lang="en" sz="1300">
                <a:highlight>
                  <a:schemeClr val="lt1"/>
                </a:highlight>
                <a:latin typeface="Play"/>
                <a:ea typeface="Play"/>
                <a:cs typeface="Play"/>
                <a:sym typeface="Play"/>
              </a:rPr>
              <a:t>The mission controller ties all modules into one pipeline.</a:t>
            </a:r>
            <a:endParaRPr sz="1300">
              <a:highlight>
                <a:schemeClr val="lt1"/>
              </a:highlight>
              <a:latin typeface="Play"/>
              <a:ea typeface="Play"/>
              <a:cs typeface="Play"/>
              <a:sym typeface="Play"/>
            </a:endParaRPr>
          </a:p>
          <a:p>
            <a:pPr indent="-304800" lvl="0" marL="457200" marR="0" rtl="0" algn="just">
              <a:lnSpc>
                <a:spcPct val="115000"/>
              </a:lnSpc>
              <a:spcBef>
                <a:spcPts val="1200"/>
              </a:spcBef>
              <a:spcAft>
                <a:spcPts val="0"/>
              </a:spcAft>
              <a:buSzPts val="1200"/>
              <a:buChar char="●"/>
            </a:pPr>
            <a:r>
              <a:rPr lang="en" sz="1300">
                <a:highlight>
                  <a:schemeClr val="lt1"/>
                </a:highlight>
                <a:latin typeface="Play"/>
                <a:ea typeface="Play"/>
                <a:cs typeface="Play"/>
                <a:sym typeface="Play"/>
              </a:rPr>
              <a:t>State machine (IDLE → EXPLORING → NAVIGATING) activates modules in order</a:t>
            </a:r>
            <a:endParaRPr sz="1300">
              <a:highlight>
                <a:schemeClr val="lt1"/>
              </a:highlight>
              <a:latin typeface="Play"/>
              <a:ea typeface="Play"/>
              <a:cs typeface="Play"/>
              <a:sym typeface="Play"/>
            </a:endParaRPr>
          </a:p>
          <a:p>
            <a:pPr indent="-304800" lvl="0" marL="457200" marR="0" rtl="0" algn="just">
              <a:lnSpc>
                <a:spcPct val="115000"/>
              </a:lnSpc>
              <a:spcBef>
                <a:spcPts val="0"/>
              </a:spcBef>
              <a:spcAft>
                <a:spcPts val="0"/>
              </a:spcAft>
              <a:buSzPts val="1200"/>
              <a:buChar char="●"/>
            </a:pPr>
            <a:r>
              <a:rPr lang="en" sz="1300">
                <a:highlight>
                  <a:schemeClr val="lt1"/>
                </a:highlight>
                <a:latin typeface="Play"/>
                <a:ea typeface="Play"/>
                <a:cs typeface="Play"/>
                <a:sym typeface="Play"/>
              </a:rPr>
              <a:t>Triggers detection during exploration, building the semantic map on the fly</a:t>
            </a:r>
            <a:endParaRPr sz="1300">
              <a:highlight>
                <a:schemeClr val="lt1"/>
              </a:highlight>
              <a:latin typeface="Play"/>
              <a:ea typeface="Play"/>
              <a:cs typeface="Play"/>
              <a:sym typeface="Play"/>
            </a:endParaRPr>
          </a:p>
          <a:p>
            <a:pPr indent="-304800" lvl="0" marL="457200" marR="0" rtl="0" algn="just">
              <a:lnSpc>
                <a:spcPct val="115000"/>
              </a:lnSpc>
              <a:spcBef>
                <a:spcPts val="0"/>
              </a:spcBef>
              <a:spcAft>
                <a:spcPts val="0"/>
              </a:spcAft>
              <a:buSzPts val="1200"/>
              <a:buChar char="●"/>
            </a:pPr>
            <a:r>
              <a:rPr lang="en" sz="1300">
                <a:highlight>
                  <a:schemeClr val="lt1"/>
                </a:highlight>
                <a:latin typeface="Play"/>
                <a:ea typeface="Play"/>
                <a:cs typeface="Play"/>
                <a:sym typeface="Play"/>
              </a:rPr>
              <a:t>Parses commands, queries the map, sends goal to Nav2</a:t>
            </a:r>
            <a:endParaRPr sz="1300">
              <a:highlight>
                <a:schemeClr val="lt1"/>
              </a:highlight>
              <a:latin typeface="Play"/>
              <a:ea typeface="Play"/>
              <a:cs typeface="Play"/>
              <a:sym typeface="Play"/>
            </a:endParaRPr>
          </a:p>
          <a:p>
            <a:pPr indent="-304800" lvl="0" marL="457200" marR="0" rtl="0" algn="just">
              <a:lnSpc>
                <a:spcPct val="115000"/>
              </a:lnSpc>
              <a:spcBef>
                <a:spcPts val="0"/>
              </a:spcBef>
              <a:spcAft>
                <a:spcPts val="0"/>
              </a:spcAft>
              <a:buSzPts val="1200"/>
              <a:buChar char="●"/>
            </a:pPr>
            <a:r>
              <a:rPr lang="en" sz="1300">
                <a:highlight>
                  <a:schemeClr val="lt1"/>
                </a:highlight>
                <a:latin typeface="Play"/>
                <a:ea typeface="Play"/>
                <a:cs typeface="Play"/>
                <a:sym typeface="Play"/>
              </a:rPr>
              <a:t>Tracks navigation outcomes</a:t>
            </a:r>
            <a:endParaRPr sz="1300">
              <a:highlight>
                <a:schemeClr val="lt1"/>
              </a:highlight>
              <a:latin typeface="Play"/>
              <a:ea typeface="Play"/>
              <a:cs typeface="Play"/>
              <a:sym typeface="Play"/>
            </a:endParaRPr>
          </a:p>
          <a:p>
            <a:pPr indent="0" lvl="0" marL="0" marR="0" rtl="0" algn="just">
              <a:lnSpc>
                <a:spcPct val="115000"/>
              </a:lnSpc>
              <a:spcBef>
                <a:spcPts val="1200"/>
              </a:spcBef>
              <a:spcAft>
                <a:spcPts val="1200"/>
              </a:spcAft>
              <a:buNone/>
            </a:pPr>
            <a:r>
              <a:rPr lang="en" sz="1300">
                <a:highlight>
                  <a:schemeClr val="lt1"/>
                </a:highlight>
                <a:latin typeface="Play"/>
                <a:ea typeface="Play"/>
                <a:cs typeface="Play"/>
                <a:sym typeface="Play"/>
              </a:rPr>
              <a:t>Design: Core logic decoupled from ROS — testable standalone.</a:t>
            </a:r>
            <a:endParaRPr sz="1700"/>
          </a:p>
        </p:txBody>
      </p:sp>
      <p:sp>
        <p:nvSpPr>
          <p:cNvPr id="267" name="Google Shape;267;p37"/>
          <p:cNvSpPr/>
          <p:nvPr/>
        </p:nvSpPr>
        <p:spPr>
          <a:xfrm>
            <a:off x="6947223" y="890638"/>
            <a:ext cx="2076900" cy="817200"/>
          </a:xfrm>
          <a:prstGeom prst="parallelogram">
            <a:avLst>
              <a:gd fmla="val 25000" name="adj"/>
            </a:avLst>
          </a:prstGeom>
          <a:solidFill>
            <a:srgbClr val="D9EAD3"/>
          </a:solidFill>
          <a:ln cap="flat" cmpd="sng" w="9525">
            <a:solidFill>
              <a:srgbClr val="5FAD5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531"/>
              <a:buFont typeface="Calibri"/>
              <a:buNone/>
            </a:pPr>
            <a:r>
              <a:rPr b="1" lang="en" sz="1331">
                <a:solidFill>
                  <a:schemeClr val="dk1"/>
                </a:solidFill>
                <a:latin typeface="Calibri"/>
                <a:ea typeface="Calibri"/>
                <a:cs typeface="Calibri"/>
                <a:sym typeface="Calibri"/>
              </a:rPr>
              <a:t>Semantic map</a:t>
            </a:r>
            <a:endParaRPr b="1" sz="1331">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{label: "red cylinder", position: [2.1, 3.4, 0.0]}</a:t>
            </a:r>
            <a:endParaRPr sz="1231">
              <a:solidFill>
                <a:schemeClr val="dk1"/>
              </a:solidFill>
              <a:latin typeface="Calibri"/>
              <a:ea typeface="Calibri"/>
              <a:cs typeface="Calibri"/>
              <a:sym typeface="Calibri"/>
            </a:endParaRPr>
          </a:p>
        </p:txBody>
      </p:sp>
      <p:sp>
        <p:nvSpPr>
          <p:cNvPr id="268" name="Google Shape;268;p37"/>
          <p:cNvSpPr/>
          <p:nvPr/>
        </p:nvSpPr>
        <p:spPr>
          <a:xfrm>
            <a:off x="4772825" y="2359248"/>
            <a:ext cx="1759800" cy="817200"/>
          </a:xfrm>
          <a:prstGeom prst="rect">
            <a:avLst/>
          </a:prstGeom>
          <a:solidFill>
            <a:srgbClr val="CFE2F3"/>
          </a:solidFill>
          <a:ln cap="flat" cmpd="sng" w="9525">
            <a:solidFill>
              <a:srgbClr val="4A86E8"/>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chemeClr val="dk1"/>
              </a:buClr>
              <a:buSzPts val="531"/>
              <a:buFont typeface="Calibri"/>
              <a:buNone/>
            </a:pPr>
            <a:r>
              <a:rPr b="1" lang="en" sz="1331">
                <a:solidFill>
                  <a:schemeClr val="dk1"/>
                </a:solidFill>
                <a:latin typeface="Calibri"/>
                <a:ea typeface="Calibri"/>
                <a:cs typeface="Calibri"/>
                <a:sym typeface="Calibri"/>
              </a:rPr>
              <a:t>Command Parser</a:t>
            </a:r>
            <a:endParaRPr b="1" sz="1331">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{action: "go", </a:t>
            </a:r>
            <a:endParaRPr sz="1200">
              <a:solidFill>
                <a:schemeClr val="dk1"/>
              </a:solidFill>
              <a:latin typeface="Roboto"/>
              <a:ea typeface="Roboto"/>
              <a:cs typeface="Roboto"/>
              <a:sym typeface="Roboto"/>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target: "cylinder", </a:t>
            </a:r>
            <a:endParaRPr sz="1200">
              <a:solidFill>
                <a:schemeClr val="dk1"/>
              </a:solidFill>
              <a:latin typeface="Roboto"/>
              <a:ea typeface="Roboto"/>
              <a:cs typeface="Roboto"/>
              <a:sym typeface="Roboto"/>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attribute: "red",}</a:t>
            </a:r>
            <a:endParaRPr sz="1231">
              <a:solidFill>
                <a:schemeClr val="dk1"/>
              </a:solidFill>
              <a:latin typeface="Calibri"/>
              <a:ea typeface="Calibri"/>
              <a:cs typeface="Calibri"/>
              <a:sym typeface="Calibri"/>
            </a:endParaRPr>
          </a:p>
        </p:txBody>
      </p:sp>
      <p:sp>
        <p:nvSpPr>
          <p:cNvPr id="269" name="Google Shape;269;p37"/>
          <p:cNvSpPr/>
          <p:nvPr/>
        </p:nvSpPr>
        <p:spPr>
          <a:xfrm>
            <a:off x="6911825" y="2185444"/>
            <a:ext cx="2156100" cy="1159500"/>
          </a:xfrm>
          <a:prstGeom prst="rect">
            <a:avLst/>
          </a:prstGeom>
          <a:solidFill>
            <a:srgbClr val="FFF2CC"/>
          </a:solidFill>
          <a:ln cap="flat" cmpd="sng" w="9525">
            <a:solidFill>
              <a:srgbClr val="FFCD09"/>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chemeClr val="dk1"/>
              </a:buClr>
              <a:buSzPts val="531"/>
              <a:buFont typeface="Calibri"/>
              <a:buNone/>
            </a:pPr>
            <a:r>
              <a:t/>
            </a:r>
            <a:endParaRPr b="1" sz="1231">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531"/>
              <a:buFont typeface="Calibri"/>
              <a:buNone/>
            </a:pPr>
            <a:r>
              <a:rPr b="1" lang="en" sz="1331">
                <a:solidFill>
                  <a:schemeClr val="dk1"/>
                </a:solidFill>
                <a:latin typeface="Calibri"/>
                <a:ea typeface="Calibri"/>
                <a:cs typeface="Calibri"/>
                <a:sym typeface="Calibri"/>
              </a:rPr>
              <a:t>Mission controller</a:t>
            </a:r>
            <a:endParaRPr b="1" sz="1331">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semantic_map.get_best_match("red cylinder") </a:t>
            </a:r>
            <a:endParaRPr sz="1200">
              <a:solidFill>
                <a:schemeClr val="dk1"/>
              </a:solidFill>
              <a:latin typeface="Roboto"/>
              <a:ea typeface="Roboto"/>
              <a:cs typeface="Roboto"/>
              <a:sym typeface="Roboto"/>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 goal = [2.1,3.4,0.0]</a:t>
            </a:r>
            <a:endParaRPr b="1"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531"/>
              <a:buFont typeface="Calibri"/>
              <a:buNone/>
            </a:pPr>
            <a:r>
              <a:t/>
            </a:r>
            <a:endParaRPr b="1" sz="1231">
              <a:solidFill>
                <a:schemeClr val="dk1"/>
              </a:solidFill>
              <a:latin typeface="Calibri"/>
              <a:ea typeface="Calibri"/>
              <a:cs typeface="Calibri"/>
              <a:sym typeface="Calibri"/>
            </a:endParaRPr>
          </a:p>
        </p:txBody>
      </p:sp>
      <p:sp>
        <p:nvSpPr>
          <p:cNvPr id="270" name="Google Shape;270;p37"/>
          <p:cNvSpPr/>
          <p:nvPr/>
        </p:nvSpPr>
        <p:spPr>
          <a:xfrm>
            <a:off x="7118882" y="3842838"/>
            <a:ext cx="1759800" cy="635400"/>
          </a:xfrm>
          <a:prstGeom prst="rect">
            <a:avLst/>
          </a:prstGeom>
          <a:solidFill>
            <a:srgbClr val="D9D2E9"/>
          </a:solidFill>
          <a:ln cap="flat" cmpd="sng" w="9525">
            <a:solidFill>
              <a:srgbClr val="8E7CC3"/>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531"/>
              <a:buFont typeface="Calibri"/>
              <a:buNone/>
            </a:pPr>
            <a:r>
              <a:rPr b="1" lang="en" sz="1331">
                <a:solidFill>
                  <a:schemeClr val="dk1"/>
                </a:solidFill>
                <a:latin typeface="Calibri"/>
                <a:ea typeface="Calibri"/>
                <a:cs typeface="Calibri"/>
                <a:sym typeface="Calibri"/>
              </a:rPr>
              <a:t>Nav2 stack</a:t>
            </a:r>
            <a:endParaRPr b="1" sz="1331">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NavigateToPose(goal.x, goal.y, frame="map") </a:t>
            </a:r>
            <a:endParaRPr sz="1331">
              <a:solidFill>
                <a:schemeClr val="dk1"/>
              </a:solidFill>
              <a:latin typeface="Roboto"/>
              <a:ea typeface="Roboto"/>
              <a:cs typeface="Roboto"/>
              <a:sym typeface="Roboto"/>
            </a:endParaRPr>
          </a:p>
        </p:txBody>
      </p:sp>
      <p:cxnSp>
        <p:nvCxnSpPr>
          <p:cNvPr id="271" name="Google Shape;271;p37"/>
          <p:cNvCxnSpPr>
            <a:stCxn id="269" idx="2"/>
            <a:endCxn id="270" idx="0"/>
          </p:cNvCxnSpPr>
          <p:nvPr/>
        </p:nvCxnSpPr>
        <p:spPr>
          <a:xfrm>
            <a:off x="7989875" y="3344944"/>
            <a:ext cx="9000" cy="498000"/>
          </a:xfrm>
          <a:prstGeom prst="straightConnector1">
            <a:avLst/>
          </a:prstGeom>
          <a:noFill/>
          <a:ln cap="flat" cmpd="sng" w="28575">
            <a:solidFill>
              <a:schemeClr val="dk2"/>
            </a:solidFill>
            <a:prstDash val="solid"/>
            <a:round/>
            <a:headEnd len="med" w="med" type="none"/>
            <a:tailEnd len="med" w="med" type="triangle"/>
          </a:ln>
        </p:spPr>
      </p:cxnSp>
      <p:cxnSp>
        <p:nvCxnSpPr>
          <p:cNvPr id="272" name="Google Shape;272;p37"/>
          <p:cNvCxnSpPr>
            <a:stCxn id="267" idx="4"/>
            <a:endCxn id="269" idx="0"/>
          </p:cNvCxnSpPr>
          <p:nvPr/>
        </p:nvCxnSpPr>
        <p:spPr>
          <a:xfrm>
            <a:off x="7985673" y="1707838"/>
            <a:ext cx="4200" cy="477600"/>
          </a:xfrm>
          <a:prstGeom prst="straightConnector1">
            <a:avLst/>
          </a:prstGeom>
          <a:noFill/>
          <a:ln cap="flat" cmpd="sng" w="28575">
            <a:solidFill>
              <a:schemeClr val="dk2"/>
            </a:solidFill>
            <a:prstDash val="solid"/>
            <a:round/>
            <a:headEnd len="med" w="med" type="none"/>
            <a:tailEnd len="med" w="med" type="triangle"/>
          </a:ln>
        </p:spPr>
      </p:cxnSp>
      <p:cxnSp>
        <p:nvCxnSpPr>
          <p:cNvPr id="273" name="Google Shape;273;p37"/>
          <p:cNvCxnSpPr>
            <a:stCxn id="268" idx="3"/>
            <a:endCxn id="269" idx="1"/>
          </p:cNvCxnSpPr>
          <p:nvPr/>
        </p:nvCxnSpPr>
        <p:spPr>
          <a:xfrm flipH="1" rot="10800000">
            <a:off x="6532625" y="2765148"/>
            <a:ext cx="379200" cy="2700"/>
          </a:xfrm>
          <a:prstGeom prst="straightConnector1">
            <a:avLst/>
          </a:prstGeom>
          <a:noFill/>
          <a:ln cap="flat" cmpd="sng" w="28575">
            <a:solidFill>
              <a:schemeClr val="dk2"/>
            </a:solidFill>
            <a:prstDash val="solid"/>
            <a:round/>
            <a:headEnd len="med" w="med" type="none"/>
            <a:tailEnd len="med" w="med" type="triangle"/>
          </a:ln>
        </p:spPr>
      </p:cxnSp>
      <p:sp>
        <p:nvSpPr>
          <p:cNvPr id="274" name="Google Shape;274;p37"/>
          <p:cNvSpPr/>
          <p:nvPr/>
        </p:nvSpPr>
        <p:spPr>
          <a:xfrm>
            <a:off x="4772825" y="890638"/>
            <a:ext cx="1759800" cy="933600"/>
          </a:xfrm>
          <a:prstGeom prst="roundRect">
            <a:avLst>
              <a:gd fmla="val 16667" name="adj"/>
            </a:avLst>
          </a:prstGeom>
          <a:solidFill>
            <a:srgbClr val="FFBBCC"/>
          </a:solidFill>
          <a:ln cap="flat" cmpd="sng" w="9525">
            <a:solidFill>
              <a:srgbClr val="F7258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1"/>
              </a:buClr>
              <a:buSzPts val="531"/>
              <a:buFont typeface="Calibri"/>
              <a:buNone/>
            </a:pPr>
            <a:r>
              <a:rPr b="1" lang="en" sz="1331">
                <a:solidFill>
                  <a:schemeClr val="dk1"/>
                </a:solidFill>
                <a:latin typeface="Calibri"/>
                <a:ea typeface="Calibri"/>
                <a:cs typeface="Calibri"/>
                <a:sym typeface="Calibri"/>
              </a:rPr>
              <a:t>Natural language command</a:t>
            </a:r>
            <a:endParaRPr b="1" sz="1331">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 e.g. "Go to the red cylinder"</a:t>
            </a:r>
            <a:endParaRPr b="1" sz="1231">
              <a:solidFill>
                <a:schemeClr val="dk1"/>
              </a:solidFill>
              <a:latin typeface="Calibri"/>
              <a:ea typeface="Calibri"/>
              <a:cs typeface="Calibri"/>
              <a:sym typeface="Calibri"/>
            </a:endParaRPr>
          </a:p>
        </p:txBody>
      </p:sp>
      <p:cxnSp>
        <p:nvCxnSpPr>
          <p:cNvPr id="275" name="Google Shape;275;p37"/>
          <p:cNvCxnSpPr>
            <a:stCxn id="274" idx="2"/>
            <a:endCxn id="268" idx="0"/>
          </p:cNvCxnSpPr>
          <p:nvPr/>
        </p:nvCxnSpPr>
        <p:spPr>
          <a:xfrm>
            <a:off x="5652725" y="1824238"/>
            <a:ext cx="0" cy="534900"/>
          </a:xfrm>
          <a:prstGeom prst="straightConnector1">
            <a:avLst/>
          </a:prstGeom>
          <a:noFill/>
          <a:ln cap="flat" cmpd="sng" w="28575">
            <a:solidFill>
              <a:schemeClr val="dk2"/>
            </a:solidFill>
            <a:prstDash val="solid"/>
            <a:round/>
            <a:headEnd len="med" w="med" type="none"/>
            <a:tailEnd len="med" w="med" type="triangle"/>
          </a:ln>
        </p:spPr>
      </p:cxnSp>
      <p:sp>
        <p:nvSpPr>
          <p:cNvPr id="276" name="Google Shape;276;p37"/>
          <p:cNvSpPr/>
          <p:nvPr/>
        </p:nvSpPr>
        <p:spPr>
          <a:xfrm>
            <a:off x="4686300" y="3759900"/>
            <a:ext cx="1846200" cy="783000"/>
          </a:xfrm>
          <a:prstGeom prst="roundRect">
            <a:avLst>
              <a:gd fmla="val 16667" name="adj"/>
            </a:avLst>
          </a:prstGeom>
          <a:solidFill>
            <a:srgbClr val="FFBBCC"/>
          </a:solidFill>
          <a:ln cap="flat" cmpd="sng" w="9525">
            <a:solidFill>
              <a:srgbClr val="F72585"/>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531"/>
              <a:buFont typeface="Calibri"/>
              <a:buNone/>
            </a:pPr>
            <a:r>
              <a:rPr b="1" lang="en" sz="1231">
                <a:solidFill>
                  <a:schemeClr val="dk1"/>
                </a:solidFill>
                <a:latin typeface="Calibri"/>
                <a:ea typeface="Calibri"/>
                <a:cs typeface="Calibri"/>
                <a:sym typeface="Calibri"/>
              </a:rPr>
              <a:t>Goal Reached</a:t>
            </a:r>
            <a:endParaRPr b="1" sz="1231">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531"/>
              <a:buFont typeface="Calibri"/>
              <a:buNone/>
            </a:pPr>
            <a:r>
              <a:rPr lang="en" sz="1200">
                <a:solidFill>
                  <a:schemeClr val="dk1"/>
                </a:solidFill>
                <a:latin typeface="Roboto"/>
                <a:ea typeface="Roboto"/>
                <a:cs typeface="Roboto"/>
                <a:sym typeface="Roboto"/>
              </a:rPr>
              <a:t>distance_to_goal &lt; 0.25 m → "Navigation complete"</a:t>
            </a:r>
            <a:endParaRPr b="1" sz="1231">
              <a:solidFill>
                <a:schemeClr val="dk1"/>
              </a:solidFill>
              <a:latin typeface="Calibri"/>
              <a:ea typeface="Calibri"/>
              <a:cs typeface="Calibri"/>
              <a:sym typeface="Calibri"/>
            </a:endParaRPr>
          </a:p>
        </p:txBody>
      </p:sp>
      <p:cxnSp>
        <p:nvCxnSpPr>
          <p:cNvPr id="277" name="Google Shape;277;p37"/>
          <p:cNvCxnSpPr>
            <a:stCxn id="270" idx="1"/>
            <a:endCxn id="276" idx="3"/>
          </p:cNvCxnSpPr>
          <p:nvPr/>
        </p:nvCxnSpPr>
        <p:spPr>
          <a:xfrm rot="10800000">
            <a:off x="6532382" y="4151538"/>
            <a:ext cx="586500" cy="90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aphicFrame>
        <p:nvGraphicFramePr>
          <p:cNvPr id="282" name="Google Shape;282;p38"/>
          <p:cNvGraphicFramePr/>
          <p:nvPr/>
        </p:nvGraphicFramePr>
        <p:xfrm>
          <a:off x="517913" y="383688"/>
          <a:ext cx="3000000" cy="3000000"/>
        </p:xfrm>
        <a:graphic>
          <a:graphicData uri="http://schemas.openxmlformats.org/drawingml/2006/table">
            <a:tbl>
              <a:tblPr>
                <a:noFill/>
                <a:tableStyleId>{DB07EEA3-9909-4C56-A132-E5CE716D7B9E}</a:tableStyleId>
              </a:tblPr>
              <a:tblGrid>
                <a:gridCol w="2705575"/>
                <a:gridCol w="2832175"/>
                <a:gridCol w="2773725"/>
              </a:tblGrid>
              <a:tr h="759375">
                <a:tc>
                  <a:txBody>
                    <a:bodyPr/>
                    <a:lstStyle/>
                    <a:p>
                      <a:pPr indent="0" lvl="0" marL="0" rtl="0" algn="ctr">
                        <a:lnSpc>
                          <a:spcPct val="125000"/>
                        </a:lnSpc>
                        <a:spcBef>
                          <a:spcPts val="1125"/>
                        </a:spcBef>
                        <a:spcAft>
                          <a:spcPts val="1125"/>
                        </a:spcAft>
                        <a:buNone/>
                      </a:pPr>
                      <a:r>
                        <a:rPr lang="en" sz="1500">
                          <a:solidFill>
                            <a:schemeClr val="dk1"/>
                          </a:solidFill>
                          <a:latin typeface="Play"/>
                          <a:ea typeface="Play"/>
                          <a:cs typeface="Play"/>
                          <a:sym typeface="Play"/>
                        </a:rPr>
                        <a:t>Command Parser</a:t>
                      </a:r>
                      <a:endParaRPr sz="1500">
                        <a:solidFill>
                          <a:schemeClr val="dk1"/>
                        </a:solidFill>
                        <a:latin typeface="Play"/>
                        <a:ea typeface="Play"/>
                        <a:cs typeface="Play"/>
                        <a:sym typeface="Play"/>
                      </a:endParaRPr>
                    </a:p>
                  </a:txBody>
                  <a:tcPr marT="142875" marB="142875" marR="142875" marL="142875">
                    <a:lnL cap="flat" cmpd="sng" w="9525">
                      <a:solidFill>
                        <a:srgbClr val="4A86E8"/>
                      </a:solidFill>
                      <a:prstDash val="solid"/>
                      <a:round/>
                      <a:headEnd len="sm" w="sm" type="none"/>
                      <a:tailEnd len="sm" w="sm" type="none"/>
                    </a:lnL>
                    <a:lnR cap="flat" cmpd="sng" w="9525">
                      <a:solidFill>
                        <a:srgbClr val="5FAD5F"/>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solidFill>
                      <a:srgbClr val="C9DAF8"/>
                    </a:solidFill>
                  </a:tcPr>
                </a:tc>
                <a:tc>
                  <a:txBody>
                    <a:bodyPr/>
                    <a:lstStyle/>
                    <a:p>
                      <a:pPr indent="0" lvl="0" marL="0" rtl="0" algn="ctr">
                        <a:lnSpc>
                          <a:spcPct val="125000"/>
                        </a:lnSpc>
                        <a:spcBef>
                          <a:spcPts val="1125"/>
                        </a:spcBef>
                        <a:spcAft>
                          <a:spcPts val="1125"/>
                        </a:spcAft>
                        <a:buNone/>
                      </a:pPr>
                      <a:r>
                        <a:rPr lang="en" sz="1500">
                          <a:latin typeface="Play"/>
                          <a:ea typeface="Play"/>
                          <a:cs typeface="Play"/>
                          <a:sym typeface="Play"/>
                        </a:rPr>
                        <a:t>Semantic Map</a:t>
                      </a:r>
                      <a:endParaRPr sz="1500">
                        <a:latin typeface="Play"/>
                        <a:ea typeface="Play"/>
                        <a:cs typeface="Play"/>
                        <a:sym typeface="Play"/>
                      </a:endParaRPr>
                    </a:p>
                  </a:txBody>
                  <a:tcPr marT="142875" marB="142875" marR="142875" marL="142875">
                    <a:lnL cap="flat" cmpd="sng" w="9525">
                      <a:solidFill>
                        <a:srgbClr val="5FAD5F"/>
                      </a:solidFill>
                      <a:prstDash val="solid"/>
                      <a:round/>
                      <a:headEnd len="sm" w="sm" type="none"/>
                      <a:tailEnd len="sm" w="sm" type="none"/>
                    </a:lnL>
                    <a:lnR cap="flat" cmpd="sng" w="9525">
                      <a:solidFill>
                        <a:srgbClr val="8E7CC3"/>
                      </a:solidFill>
                      <a:prstDash val="solid"/>
                      <a:round/>
                      <a:headEnd len="sm" w="sm" type="none"/>
                      <a:tailEnd len="sm" w="sm" type="none"/>
                    </a:lnR>
                    <a:lnT cap="flat" cmpd="sng" w="9525">
                      <a:solidFill>
                        <a:srgbClr val="5FAD5F"/>
                      </a:solidFill>
                      <a:prstDash val="solid"/>
                      <a:round/>
                      <a:headEnd len="sm" w="sm" type="none"/>
                      <a:tailEnd len="sm" w="sm" type="none"/>
                    </a:lnT>
                    <a:lnB cap="flat" cmpd="sng" w="9525">
                      <a:solidFill>
                        <a:srgbClr val="5FAD5F"/>
                      </a:solidFill>
                      <a:prstDash val="solid"/>
                      <a:round/>
                      <a:headEnd len="sm" w="sm" type="none"/>
                      <a:tailEnd len="sm" w="sm" type="none"/>
                    </a:lnB>
                    <a:solidFill>
                      <a:srgbClr val="D9EAD3"/>
                    </a:solidFill>
                  </a:tcPr>
                </a:tc>
                <a:tc>
                  <a:txBody>
                    <a:bodyPr/>
                    <a:lstStyle/>
                    <a:p>
                      <a:pPr indent="0" lvl="0" marL="0" rtl="0" algn="ctr">
                        <a:lnSpc>
                          <a:spcPct val="125000"/>
                        </a:lnSpc>
                        <a:spcBef>
                          <a:spcPts val="1125"/>
                        </a:spcBef>
                        <a:spcAft>
                          <a:spcPts val="0"/>
                        </a:spcAft>
                        <a:buNone/>
                      </a:pPr>
                      <a:r>
                        <a:rPr lang="en" sz="1500">
                          <a:solidFill>
                            <a:schemeClr val="dk1"/>
                          </a:solidFill>
                          <a:latin typeface="Play"/>
                          <a:ea typeface="Play"/>
                          <a:cs typeface="Play"/>
                          <a:sym typeface="Play"/>
                        </a:rPr>
                        <a:t>Nav2 Navigation</a:t>
                      </a:r>
                      <a:endParaRPr sz="1500">
                        <a:solidFill>
                          <a:schemeClr val="dk1"/>
                        </a:solidFill>
                        <a:latin typeface="Play"/>
                        <a:ea typeface="Play"/>
                        <a:cs typeface="Play"/>
                        <a:sym typeface="Play"/>
                      </a:endParaRPr>
                    </a:p>
                    <a:p>
                      <a:pPr indent="0" lvl="0" marL="0" rtl="0" algn="l">
                        <a:spcBef>
                          <a:spcPts val="1125"/>
                        </a:spcBef>
                        <a:spcAft>
                          <a:spcPts val="0"/>
                        </a:spcAft>
                        <a:buNone/>
                      </a:pPr>
                      <a:r>
                        <a:rPr lang="en" sz="1500">
                          <a:latin typeface="Play"/>
                          <a:ea typeface="Play"/>
                          <a:cs typeface="Play"/>
                          <a:sym typeface="Play"/>
                        </a:rPr>
                        <a:t> </a:t>
                      </a:r>
                      <a:endParaRPr sz="1500">
                        <a:latin typeface="Play"/>
                        <a:ea typeface="Play"/>
                        <a:cs typeface="Play"/>
                        <a:sym typeface="Play"/>
                      </a:endParaRPr>
                    </a:p>
                  </a:txBody>
                  <a:tcPr marT="142875" marB="142875" marR="142875" marL="142875">
                    <a:lnL cap="flat" cmpd="sng" w="9525">
                      <a:solidFill>
                        <a:srgbClr val="8E7CC3"/>
                      </a:solidFill>
                      <a:prstDash val="solid"/>
                      <a:round/>
                      <a:headEnd len="sm" w="sm" type="none"/>
                      <a:tailEnd len="sm" w="sm" type="none"/>
                    </a:lnL>
                    <a:lnR cap="flat" cmpd="sng" w="9525">
                      <a:solidFill>
                        <a:srgbClr val="8E7CC3"/>
                      </a:solidFill>
                      <a:prstDash val="solid"/>
                      <a:round/>
                      <a:headEnd len="sm" w="sm" type="none"/>
                      <a:tailEnd len="sm" w="sm" type="none"/>
                    </a:lnR>
                    <a:lnT cap="flat" cmpd="sng" w="9525">
                      <a:solidFill>
                        <a:srgbClr val="8E7CC3"/>
                      </a:solidFill>
                      <a:prstDash val="solid"/>
                      <a:round/>
                      <a:headEnd len="sm" w="sm" type="none"/>
                      <a:tailEnd len="sm" w="sm" type="none"/>
                    </a:lnT>
                    <a:lnB cap="flat" cmpd="sng" w="9525">
                      <a:solidFill>
                        <a:srgbClr val="8E7CC3"/>
                      </a:solidFill>
                      <a:prstDash val="solid"/>
                      <a:round/>
                      <a:headEnd len="sm" w="sm" type="none"/>
                      <a:tailEnd len="sm" w="sm" type="none"/>
                    </a:lnB>
                    <a:solidFill>
                      <a:srgbClr val="D9D2E9"/>
                    </a:solidFill>
                  </a:tcPr>
                </a:tc>
              </a:tr>
              <a:tr h="3029325">
                <a:tc>
                  <a:txBody>
                    <a:bodyPr/>
                    <a:lstStyle/>
                    <a:p>
                      <a:pPr indent="0" lvl="0" marL="0" rtl="0" algn="l">
                        <a:lnSpc>
                          <a:spcPct val="125000"/>
                        </a:lnSpc>
                        <a:spcBef>
                          <a:spcPts val="0"/>
                        </a:spcBef>
                        <a:spcAft>
                          <a:spcPts val="0"/>
                        </a:spcAft>
                        <a:buNone/>
                      </a:pPr>
                      <a:r>
                        <a:rPr b="1" lang="en" sz="1100">
                          <a:latin typeface="Play"/>
                          <a:ea typeface="Play"/>
                          <a:cs typeface="Play"/>
                          <a:sym typeface="Play"/>
                        </a:rPr>
                        <a:t>Converts</a:t>
                      </a:r>
                      <a:r>
                        <a:rPr lang="en" sz="1100">
                          <a:latin typeface="Play"/>
                          <a:ea typeface="Play"/>
                          <a:cs typeface="Play"/>
                          <a:sym typeface="Play"/>
                        </a:rPr>
                        <a:t> free-form text into a structured query the system can act on</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lang="en" sz="1100">
                          <a:latin typeface="Play"/>
                          <a:ea typeface="Play"/>
                          <a:cs typeface="Play"/>
                          <a:sym typeface="Play"/>
                        </a:rPr>
                        <a:t>Uses</a:t>
                      </a:r>
                      <a:r>
                        <a:rPr b="1" lang="en" sz="1100">
                          <a:latin typeface="Play"/>
                          <a:ea typeface="Play"/>
                          <a:cs typeface="Play"/>
                          <a:sym typeface="Play"/>
                        </a:rPr>
                        <a:t> </a:t>
                      </a:r>
                      <a:r>
                        <a:rPr b="1" lang="en" sz="1100">
                          <a:latin typeface="Play"/>
                          <a:ea typeface="Play"/>
                          <a:cs typeface="Play"/>
                          <a:sym typeface="Play"/>
                        </a:rPr>
                        <a:t>Regex</a:t>
                      </a:r>
                      <a:r>
                        <a:rPr lang="en" sz="1100">
                          <a:latin typeface="Play"/>
                          <a:ea typeface="Play"/>
                          <a:cs typeface="Play"/>
                          <a:sym typeface="Play"/>
                        </a:rPr>
                        <a:t> cascade to strip action verb, extracts color + shape, pulls out spatial relations</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b="1" lang="en" sz="1100">
                          <a:latin typeface="Play"/>
                          <a:ea typeface="Play"/>
                          <a:cs typeface="Play"/>
                          <a:sym typeface="Play"/>
                        </a:rPr>
                        <a:t>Outputs</a:t>
                      </a:r>
                      <a:r>
                        <a:rPr lang="en" sz="1100">
                          <a:latin typeface="Play"/>
                          <a:ea typeface="Play"/>
                          <a:cs typeface="Play"/>
                          <a:sym typeface="Play"/>
                        </a:rPr>
                        <a:t> target="cylinder" · attr="red" · query="red cylinder"</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txBody>
                  <a:tcPr marT="142875" marB="142875" marR="142875" marL="1428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rtl="0" algn="l">
                        <a:lnSpc>
                          <a:spcPct val="125000"/>
                        </a:lnSpc>
                        <a:spcBef>
                          <a:spcPts val="0"/>
                        </a:spcBef>
                        <a:spcAft>
                          <a:spcPts val="0"/>
                        </a:spcAft>
                        <a:buNone/>
                      </a:pPr>
                      <a:r>
                        <a:rPr b="1" lang="en" sz="1100">
                          <a:latin typeface="Play"/>
                          <a:ea typeface="Play"/>
                          <a:cs typeface="Play"/>
                          <a:sym typeface="Play"/>
                        </a:rPr>
                        <a:t>Stores </a:t>
                      </a:r>
                      <a:r>
                        <a:rPr lang="en" sz="1100">
                          <a:latin typeface="Play"/>
                          <a:ea typeface="Play"/>
                          <a:cs typeface="Play"/>
                          <a:sym typeface="Play"/>
                        </a:rPr>
                        <a:t> the label, 3D position, confidence and observation count</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b="1" lang="en" sz="1100">
                          <a:latin typeface="Play"/>
                          <a:ea typeface="Play"/>
                          <a:cs typeface="Play"/>
                          <a:sym typeface="Play"/>
                        </a:rPr>
                        <a:t>Merges Duplicates </a:t>
                      </a:r>
                      <a:r>
                        <a:rPr lang="en" sz="1100">
                          <a:latin typeface="Play"/>
                          <a:ea typeface="Play"/>
                          <a:cs typeface="Play"/>
                          <a:sym typeface="Play"/>
                        </a:rPr>
                        <a:t>if there is</a:t>
                      </a:r>
                      <a:r>
                        <a:rPr b="1" lang="en" sz="1100">
                          <a:latin typeface="Play"/>
                          <a:ea typeface="Play"/>
                          <a:cs typeface="Play"/>
                          <a:sym typeface="Play"/>
                        </a:rPr>
                        <a:t> </a:t>
                      </a:r>
                      <a:r>
                        <a:rPr lang="en" sz="1100">
                          <a:latin typeface="Play"/>
                          <a:ea typeface="Play"/>
                          <a:cs typeface="Play"/>
                          <a:sym typeface="Play"/>
                        </a:rPr>
                        <a:t>same</a:t>
                      </a:r>
                      <a:r>
                        <a:rPr lang="en" sz="1100">
                          <a:latin typeface="Play"/>
                          <a:ea typeface="Play"/>
                          <a:cs typeface="Play"/>
                          <a:sym typeface="Play"/>
                        </a:rPr>
                        <a:t> label within 0.5 m (weighted running average; more observations = more accurate)</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lang="en" sz="1100">
                          <a:latin typeface="Play"/>
                          <a:ea typeface="Play"/>
                          <a:cs typeface="Play"/>
                          <a:sym typeface="Play"/>
                        </a:rPr>
                        <a:t>Uses </a:t>
                      </a:r>
                      <a:r>
                        <a:rPr b="1" lang="en" sz="1100">
                          <a:latin typeface="Play"/>
                          <a:ea typeface="Play"/>
                          <a:cs typeface="Play"/>
                          <a:sym typeface="Play"/>
                        </a:rPr>
                        <a:t>Fuzzy querying</a:t>
                      </a:r>
                      <a:r>
                        <a:rPr lang="en" sz="1100">
                          <a:latin typeface="Play"/>
                          <a:ea typeface="Play"/>
                          <a:cs typeface="Play"/>
                          <a:sym typeface="Play"/>
                        </a:rPr>
                        <a:t>  "cylinder" matches "red cylinder"; tolerates DINO label concatenation</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txBody>
                  <a:tcPr marT="142875" marB="142875" marR="142875" marL="1428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5FAD5F"/>
                      </a:solidFill>
                      <a:prstDash val="solid"/>
                      <a:round/>
                      <a:headEnd len="sm" w="sm" type="none"/>
                      <a:tailEnd len="sm" w="sm" type="none"/>
                    </a:lnT>
                    <a:lnB cap="flat" cmpd="sng" w="9525">
                      <a:solidFill>
                        <a:srgbClr val="DDDDDD"/>
                      </a:solidFill>
                      <a:prstDash val="solid"/>
                      <a:round/>
                      <a:headEnd len="sm" w="sm" type="none"/>
                      <a:tailEnd len="sm" w="sm" type="none"/>
                    </a:lnB>
                    <a:solidFill>
                      <a:srgbClr val="FCFCFC"/>
                    </a:solidFill>
                  </a:tcPr>
                </a:tc>
                <a:tc>
                  <a:txBody>
                    <a:bodyPr/>
                    <a:lstStyle/>
                    <a:p>
                      <a:pPr indent="0" lvl="0" marL="0" rtl="0" algn="l">
                        <a:lnSpc>
                          <a:spcPct val="125000"/>
                        </a:lnSpc>
                        <a:spcBef>
                          <a:spcPts val="0"/>
                        </a:spcBef>
                        <a:spcAft>
                          <a:spcPts val="0"/>
                        </a:spcAft>
                        <a:buNone/>
                      </a:pPr>
                      <a:r>
                        <a:rPr lang="en" sz="1100">
                          <a:latin typeface="Play"/>
                          <a:ea typeface="Play"/>
                          <a:cs typeface="Play"/>
                          <a:sym typeface="Play"/>
                        </a:rPr>
                        <a:t>Uses </a:t>
                      </a:r>
                      <a:r>
                        <a:rPr b="1" lang="en" sz="1100">
                          <a:solidFill>
                            <a:schemeClr val="dk1"/>
                          </a:solidFill>
                          <a:latin typeface="Play"/>
                          <a:ea typeface="Play"/>
                          <a:cs typeface="Play"/>
                          <a:sym typeface="Play"/>
                        </a:rPr>
                        <a:t>Global planner (NavFn)</a:t>
                      </a:r>
                      <a:r>
                        <a:rPr lang="en" sz="1100">
                          <a:solidFill>
                            <a:schemeClr val="dk1"/>
                          </a:solidFill>
                          <a:latin typeface="Play"/>
                          <a:ea typeface="Play"/>
                          <a:cs typeface="Play"/>
                          <a:sym typeface="Play"/>
                        </a:rPr>
                        <a:t> </a:t>
                      </a:r>
                      <a:r>
                        <a:rPr lang="en" sz="1100">
                          <a:latin typeface="Play"/>
                          <a:ea typeface="Play"/>
                          <a:cs typeface="Play"/>
                          <a:sym typeface="Play"/>
                        </a:rPr>
                        <a:t>costmap to get shortest collision-free path</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lang="en" sz="1100">
                          <a:latin typeface="Play"/>
                          <a:ea typeface="Play"/>
                          <a:cs typeface="Play"/>
                          <a:sym typeface="Play"/>
                        </a:rPr>
                        <a:t>The</a:t>
                      </a:r>
                      <a:r>
                        <a:rPr b="1" lang="en" sz="1100">
                          <a:latin typeface="Play"/>
                          <a:ea typeface="Play"/>
                          <a:cs typeface="Play"/>
                          <a:sym typeface="Play"/>
                        </a:rPr>
                        <a:t> </a:t>
                      </a:r>
                      <a:r>
                        <a:rPr b="1" lang="en" sz="1100">
                          <a:latin typeface="Play"/>
                          <a:ea typeface="Play"/>
                          <a:cs typeface="Play"/>
                          <a:sym typeface="Play"/>
                        </a:rPr>
                        <a:t>Local controller (DWB)</a:t>
                      </a:r>
                      <a:r>
                        <a:rPr lang="en" sz="1100">
                          <a:latin typeface="Play"/>
                          <a:ea typeface="Play"/>
                          <a:cs typeface="Play"/>
                          <a:sym typeface="Play"/>
                        </a:rPr>
                        <a:t> samples velocities at 20 Hz, scores on basis of heading, clearance and speed</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lang="en" sz="1100">
                          <a:latin typeface="Play"/>
                          <a:ea typeface="Play"/>
                          <a:cs typeface="Play"/>
                          <a:sym typeface="Play"/>
                        </a:rPr>
                        <a:t>Uses </a:t>
                      </a:r>
                      <a:r>
                        <a:rPr b="1" lang="en" sz="1100">
                          <a:latin typeface="Play"/>
                          <a:ea typeface="Play"/>
                          <a:cs typeface="Play"/>
                          <a:sym typeface="Play"/>
                        </a:rPr>
                        <a:t>Costmap inflation</a:t>
                      </a:r>
                      <a:r>
                        <a:rPr lang="en" sz="1100">
                          <a:latin typeface="Play"/>
                          <a:ea typeface="Play"/>
                          <a:cs typeface="Play"/>
                          <a:sym typeface="Play"/>
                        </a:rPr>
                        <a:t> to inflate obstacles by robot radius (the pink halo in RViz)</a:t>
                      </a:r>
                      <a:endParaRPr sz="1100">
                        <a:latin typeface="Play"/>
                        <a:ea typeface="Play"/>
                        <a:cs typeface="Play"/>
                        <a:sym typeface="Play"/>
                      </a:endParaRPr>
                    </a:p>
                    <a:p>
                      <a:pPr indent="0" lvl="0" marL="0" rtl="0" algn="l">
                        <a:lnSpc>
                          <a:spcPct val="125000"/>
                        </a:lnSpc>
                        <a:spcBef>
                          <a:spcPts val="0"/>
                        </a:spcBef>
                        <a:spcAft>
                          <a:spcPts val="0"/>
                        </a:spcAft>
                        <a:buNone/>
                      </a:pPr>
                      <a:r>
                        <a:t/>
                      </a:r>
                      <a:endParaRPr sz="1100">
                        <a:latin typeface="Play"/>
                        <a:ea typeface="Play"/>
                        <a:cs typeface="Play"/>
                        <a:sym typeface="Play"/>
                      </a:endParaRPr>
                    </a:p>
                    <a:p>
                      <a:pPr indent="0" lvl="0" marL="0" rtl="0" algn="l">
                        <a:lnSpc>
                          <a:spcPct val="125000"/>
                        </a:lnSpc>
                        <a:spcBef>
                          <a:spcPts val="0"/>
                        </a:spcBef>
                        <a:spcAft>
                          <a:spcPts val="0"/>
                        </a:spcAft>
                        <a:buNone/>
                      </a:pPr>
                      <a:r>
                        <a:rPr b="1" lang="en" sz="1100">
                          <a:latin typeface="Play"/>
                          <a:ea typeface="Play"/>
                          <a:cs typeface="Play"/>
                          <a:sym typeface="Play"/>
                        </a:rPr>
                        <a:t>Action interface</a:t>
                      </a:r>
                      <a:r>
                        <a:rPr lang="en" sz="1100">
                          <a:latin typeface="Play"/>
                          <a:ea typeface="Play"/>
                          <a:cs typeface="Play"/>
                          <a:sym typeface="Play"/>
                        </a:rPr>
                        <a:t> : navigate_to_pose → feedback stream → SUCCEEDED or FAILED</a:t>
                      </a:r>
                      <a:endParaRPr sz="1100">
                        <a:latin typeface="Play"/>
                        <a:ea typeface="Play"/>
                        <a:cs typeface="Play"/>
                        <a:sym typeface="Play"/>
                      </a:endParaRPr>
                    </a:p>
                  </a:txBody>
                  <a:tcPr marT="142875" marB="142875" marR="142875" marL="1428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8E7CC3"/>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381150" y="-2"/>
            <a:ext cx="8520600" cy="572700"/>
          </a:xfrm>
          <a:prstGeom prst="rect">
            <a:avLst/>
          </a:prstGeom>
        </p:spPr>
        <p:txBody>
          <a:bodyPr anchorCtr="0" anchor="ctr" bIns="34275" lIns="68575" spcFirstLastPara="1" rIns="68575" wrap="square" tIns="34275">
            <a:normAutofit/>
          </a:bodyPr>
          <a:lstStyle/>
          <a:p>
            <a:pPr indent="0" lvl="0" marL="0" rtl="0" algn="ctr">
              <a:lnSpc>
                <a:spcPct val="100000"/>
              </a:lnSpc>
              <a:spcBef>
                <a:spcPts val="800"/>
              </a:spcBef>
              <a:spcAft>
                <a:spcPts val="0"/>
              </a:spcAft>
              <a:buNone/>
            </a:pPr>
            <a:r>
              <a:rPr lang="en" sz="3000"/>
              <a:t>Simulation &amp; Testing</a:t>
            </a:r>
            <a:endParaRPr sz="3000">
              <a:latin typeface="Arial"/>
              <a:ea typeface="Arial"/>
              <a:cs typeface="Arial"/>
              <a:sym typeface="Arial"/>
            </a:endParaRPr>
          </a:p>
        </p:txBody>
      </p:sp>
      <p:pic>
        <p:nvPicPr>
          <p:cNvPr id="288" name="Google Shape;288;p39" title="Navigation_simulation (online-video-cutter.com).mp4">
            <a:hlinkClick r:id="rId3"/>
          </p:cNvPr>
          <p:cNvPicPr preferRelativeResize="0"/>
          <p:nvPr/>
        </p:nvPicPr>
        <p:blipFill>
          <a:blip r:embed="rId4">
            <a:alphaModFix/>
          </a:blip>
          <a:stretch>
            <a:fillRect/>
          </a:stretch>
        </p:blipFill>
        <p:spPr>
          <a:xfrm>
            <a:off x="1101038" y="572700"/>
            <a:ext cx="7265424" cy="2482350"/>
          </a:xfrm>
          <a:prstGeom prst="rect">
            <a:avLst/>
          </a:prstGeom>
          <a:noFill/>
          <a:ln>
            <a:noFill/>
          </a:ln>
        </p:spPr>
      </p:pic>
      <p:pic>
        <p:nvPicPr>
          <p:cNvPr id="289" name="Google Shape;289;p39" title="Navigation_commandT (online-video-cutter.com).mp4">
            <a:hlinkClick r:id="rId5"/>
          </p:cNvPr>
          <p:cNvPicPr preferRelativeResize="0"/>
          <p:nvPr/>
        </p:nvPicPr>
        <p:blipFill>
          <a:blip r:embed="rId6">
            <a:alphaModFix/>
          </a:blip>
          <a:stretch>
            <a:fillRect/>
          </a:stretch>
        </p:blipFill>
        <p:spPr>
          <a:xfrm>
            <a:off x="152400" y="3055050"/>
            <a:ext cx="3976402" cy="1602975"/>
          </a:xfrm>
          <a:prstGeom prst="rect">
            <a:avLst/>
          </a:prstGeom>
          <a:noFill/>
          <a:ln>
            <a:noFill/>
          </a:ln>
        </p:spPr>
      </p:pic>
      <p:pic>
        <p:nvPicPr>
          <p:cNvPr id="290" name="Google Shape;290;p39" title="Navigation_mainT (online-video-cutter.com).mp4">
            <a:hlinkClick r:id="rId7"/>
          </p:cNvPr>
          <p:cNvPicPr preferRelativeResize="0"/>
          <p:nvPr/>
        </p:nvPicPr>
        <p:blipFill>
          <a:blip r:embed="rId8">
            <a:alphaModFix/>
          </a:blip>
          <a:stretch>
            <a:fillRect/>
          </a:stretch>
        </p:blipFill>
        <p:spPr>
          <a:xfrm>
            <a:off x="4274200" y="3055050"/>
            <a:ext cx="4869797" cy="1602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778025" y="-2"/>
            <a:ext cx="8520600" cy="572700"/>
          </a:xfrm>
          <a:prstGeom prst="rect">
            <a:avLst/>
          </a:prstGeom>
        </p:spPr>
        <p:txBody>
          <a:bodyPr anchorCtr="0" anchor="ctr" bIns="34275" lIns="68575" spcFirstLastPara="1" rIns="68575" wrap="square" tIns="34275">
            <a:normAutofit/>
          </a:bodyPr>
          <a:lstStyle/>
          <a:p>
            <a:pPr indent="0" lvl="0" marL="0" rtl="0" algn="ctr">
              <a:lnSpc>
                <a:spcPct val="100000"/>
              </a:lnSpc>
              <a:spcBef>
                <a:spcPts val="800"/>
              </a:spcBef>
              <a:spcAft>
                <a:spcPts val="0"/>
              </a:spcAft>
              <a:buNone/>
            </a:pPr>
            <a:r>
              <a:rPr lang="en" sz="3000"/>
              <a:t>Results &amp; Observations</a:t>
            </a:r>
            <a:endParaRPr sz="3000">
              <a:latin typeface="Arial"/>
              <a:ea typeface="Arial"/>
              <a:cs typeface="Arial"/>
              <a:sym typeface="Arial"/>
            </a:endParaRPr>
          </a:p>
        </p:txBody>
      </p:sp>
      <p:sp>
        <p:nvSpPr>
          <p:cNvPr id="296" name="Google Shape;296;p40"/>
          <p:cNvSpPr txBox="1"/>
          <p:nvPr>
            <p:ph idx="1" type="body"/>
          </p:nvPr>
        </p:nvSpPr>
        <p:spPr>
          <a:xfrm>
            <a:off x="91300" y="668725"/>
            <a:ext cx="4544100" cy="4144500"/>
          </a:xfrm>
          <a:prstGeom prst="rect">
            <a:avLst/>
          </a:prstGeom>
        </p:spPr>
        <p:txBody>
          <a:bodyPr anchorCtr="0" anchor="t" bIns="34275" lIns="68575" spcFirstLastPara="1" rIns="68575" wrap="square" tIns="34275">
            <a:noAutofit/>
          </a:bodyPr>
          <a:lstStyle/>
          <a:p>
            <a:pPr indent="0" lvl="0" marL="0" marR="0" rtl="0" algn="just">
              <a:lnSpc>
                <a:spcPct val="115000"/>
              </a:lnSpc>
              <a:spcBef>
                <a:spcPts val="1200"/>
              </a:spcBef>
              <a:spcAft>
                <a:spcPts val="0"/>
              </a:spcAft>
              <a:buNone/>
            </a:pPr>
            <a:r>
              <a:rPr lang="en" sz="1300">
                <a:highlight>
                  <a:schemeClr val="lt1"/>
                </a:highlight>
                <a:latin typeface="Play"/>
                <a:ea typeface="Play"/>
                <a:cs typeface="Play"/>
                <a:sym typeface="Play"/>
              </a:rPr>
              <a:t>We evaluate the system by running commands directly against the saved semantic map, allowing rapid testing without re-launching the simulation.</a:t>
            </a:r>
            <a:endParaRPr sz="1300">
              <a:highlight>
                <a:schemeClr val="lt1"/>
              </a:highlight>
              <a:latin typeface="Play"/>
              <a:ea typeface="Play"/>
              <a:cs typeface="Play"/>
              <a:sym typeface="Play"/>
            </a:endParaRPr>
          </a:p>
          <a:p>
            <a:pPr indent="0" lvl="0" marL="0" rtl="0" algn="just">
              <a:lnSpc>
                <a:spcPct val="115000"/>
              </a:lnSpc>
              <a:spcBef>
                <a:spcPts val="1200"/>
              </a:spcBef>
              <a:spcAft>
                <a:spcPts val="0"/>
              </a:spcAft>
              <a:buClr>
                <a:schemeClr val="dk1"/>
              </a:buClr>
              <a:buSzPts val="1100"/>
              <a:buFont typeface="Arial"/>
              <a:buNone/>
            </a:pPr>
            <a:r>
              <a:rPr b="1" lang="en" sz="1300">
                <a:highlight>
                  <a:schemeClr val="lt1"/>
                </a:highlight>
                <a:latin typeface="Play"/>
                <a:ea typeface="Play"/>
                <a:cs typeface="Play"/>
                <a:sym typeface="Play"/>
              </a:rPr>
              <a:t>Localization:</a:t>
            </a:r>
            <a:r>
              <a:rPr lang="en" sz="1300">
                <a:highlight>
                  <a:schemeClr val="lt1"/>
                </a:highlight>
                <a:latin typeface="Play"/>
                <a:ea typeface="Play"/>
                <a:cs typeface="Play"/>
                <a:sym typeface="Play"/>
              </a:rPr>
              <a:t> Compared mean perceived positions against ground truth. Avg error per run &lt; 0.5 m, likely due to depth sensor noise and bounding box misalignment.</a:t>
            </a:r>
            <a:endParaRPr sz="1300">
              <a:highlight>
                <a:schemeClr val="lt1"/>
              </a:highlight>
              <a:latin typeface="Play"/>
              <a:ea typeface="Play"/>
              <a:cs typeface="Play"/>
              <a:sym typeface="Play"/>
            </a:endParaRPr>
          </a:p>
          <a:p>
            <a:pPr indent="0" lvl="0" marL="0" rtl="0" algn="just">
              <a:lnSpc>
                <a:spcPct val="115000"/>
              </a:lnSpc>
              <a:spcBef>
                <a:spcPts val="1200"/>
              </a:spcBef>
              <a:spcAft>
                <a:spcPts val="0"/>
              </a:spcAft>
              <a:buClr>
                <a:schemeClr val="dk1"/>
              </a:buClr>
              <a:buSzPts val="1100"/>
              <a:buFont typeface="Arial"/>
              <a:buNone/>
            </a:pPr>
            <a:r>
              <a:rPr b="1" lang="en" sz="1300">
                <a:highlight>
                  <a:schemeClr val="lt1"/>
                </a:highlight>
                <a:latin typeface="Play"/>
                <a:ea typeface="Play"/>
                <a:cs typeface="Play"/>
                <a:sym typeface="Play"/>
              </a:rPr>
              <a:t>Confidence:</a:t>
            </a:r>
            <a:r>
              <a:rPr lang="en" sz="1300">
                <a:highlight>
                  <a:schemeClr val="lt1"/>
                </a:highlight>
                <a:latin typeface="Play"/>
                <a:ea typeface="Play"/>
                <a:cs typeface="Play"/>
                <a:sym typeface="Play"/>
              </a:rPr>
              <a:t> Scores range 0.41–0.69 — moderate, given DINO wasn't trained on simple Gazebo shapes.</a:t>
            </a:r>
            <a:endParaRPr sz="1300">
              <a:highlight>
                <a:schemeClr val="lt1"/>
              </a:highlight>
              <a:latin typeface="Play"/>
              <a:ea typeface="Play"/>
              <a:cs typeface="Play"/>
              <a:sym typeface="Play"/>
            </a:endParaRPr>
          </a:p>
          <a:p>
            <a:pPr indent="0" lvl="0" marL="0" rtl="0" algn="just">
              <a:lnSpc>
                <a:spcPct val="115000"/>
              </a:lnSpc>
              <a:spcBef>
                <a:spcPts val="1200"/>
              </a:spcBef>
              <a:spcAft>
                <a:spcPts val="1200"/>
              </a:spcAft>
              <a:buNone/>
            </a:pPr>
            <a:r>
              <a:rPr b="1" lang="en" sz="1300">
                <a:highlight>
                  <a:schemeClr val="lt1"/>
                </a:highlight>
                <a:latin typeface="Play"/>
                <a:ea typeface="Play"/>
                <a:cs typeface="Play"/>
                <a:sym typeface="Play"/>
              </a:rPr>
              <a:t>Commands:</a:t>
            </a:r>
            <a:r>
              <a:rPr lang="en" sz="1300">
                <a:highlight>
                  <a:schemeClr val="lt1"/>
                </a:highlight>
                <a:latin typeface="Play"/>
                <a:ea typeface="Play"/>
                <a:cs typeface="Play"/>
                <a:sym typeface="Play"/>
              </a:rPr>
              <a:t> 5 simple (existing objects) + 5 negative (non-existent). All simple commands pass since every object in the environment was detected. Negative commands mostly fail because the map uses fuzzy matching — "green box" returns "blue box" as the closest match instead of rejecting it.</a:t>
            </a:r>
            <a:endParaRPr sz="1600"/>
          </a:p>
        </p:txBody>
      </p:sp>
      <p:pic>
        <p:nvPicPr>
          <p:cNvPr id="297" name="Google Shape;297;p40"/>
          <p:cNvPicPr preferRelativeResize="0"/>
          <p:nvPr/>
        </p:nvPicPr>
        <p:blipFill rotWithShape="1">
          <a:blip r:embed="rId3">
            <a:alphaModFix/>
          </a:blip>
          <a:srcRect b="3148" l="0" r="34512" t="0"/>
          <a:stretch/>
        </p:blipFill>
        <p:spPr>
          <a:xfrm>
            <a:off x="4993796" y="533013"/>
            <a:ext cx="3716189" cy="2863417"/>
          </a:xfrm>
          <a:prstGeom prst="rect">
            <a:avLst/>
          </a:prstGeom>
          <a:noFill/>
          <a:ln>
            <a:noFill/>
          </a:ln>
        </p:spPr>
      </p:pic>
      <p:pic>
        <p:nvPicPr>
          <p:cNvPr id="298" name="Google Shape;298;p40"/>
          <p:cNvPicPr preferRelativeResize="0"/>
          <p:nvPr/>
        </p:nvPicPr>
        <p:blipFill rotWithShape="1">
          <a:blip r:embed="rId4">
            <a:alphaModFix/>
          </a:blip>
          <a:srcRect b="0" l="0" r="34512" t="34388"/>
          <a:stretch/>
        </p:blipFill>
        <p:spPr>
          <a:xfrm>
            <a:off x="4993796" y="3350287"/>
            <a:ext cx="3716189" cy="17535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type="title"/>
          </p:nvPr>
        </p:nvSpPr>
        <p:spPr>
          <a:xfrm>
            <a:off x="628650" y="75406"/>
            <a:ext cx="7886700" cy="994200"/>
          </a:xfrm>
          <a:prstGeom prst="rect">
            <a:avLst/>
          </a:prstGeom>
        </p:spPr>
        <p:txBody>
          <a:bodyPr anchorCtr="0" anchor="ctr" bIns="34275" lIns="68575" spcFirstLastPara="1" rIns="68575" wrap="square" tIns="34275">
            <a:normAutofit/>
          </a:bodyPr>
          <a:lstStyle/>
          <a:p>
            <a:pPr indent="0" lvl="0" marL="0" marR="0" rtl="0" algn="ctr">
              <a:lnSpc>
                <a:spcPct val="100000"/>
              </a:lnSpc>
              <a:spcBef>
                <a:spcPts val="800"/>
              </a:spcBef>
              <a:spcAft>
                <a:spcPts val="0"/>
              </a:spcAft>
              <a:buNone/>
            </a:pPr>
            <a:r>
              <a:rPr lang="en" sz="3000"/>
              <a:t>Conclusion &amp; Future Work </a:t>
            </a:r>
            <a:endParaRPr sz="3000">
              <a:latin typeface="Arial"/>
              <a:ea typeface="Arial"/>
              <a:cs typeface="Arial"/>
              <a:sym typeface="Arial"/>
            </a:endParaRPr>
          </a:p>
        </p:txBody>
      </p:sp>
      <p:sp>
        <p:nvSpPr>
          <p:cNvPr id="304" name="Google Shape;304;p41"/>
          <p:cNvSpPr txBox="1"/>
          <p:nvPr>
            <p:ph idx="1" type="body"/>
          </p:nvPr>
        </p:nvSpPr>
        <p:spPr>
          <a:xfrm>
            <a:off x="479844" y="859628"/>
            <a:ext cx="3886200" cy="3263400"/>
          </a:xfrm>
          <a:prstGeom prst="rect">
            <a:avLst/>
          </a:prstGeom>
        </p:spPr>
        <p:txBody>
          <a:bodyPr anchorCtr="0" anchor="t" bIns="34275" lIns="68575" spcFirstLastPara="1" rIns="68575" wrap="square" tIns="34275">
            <a:noAutofit/>
          </a:bodyPr>
          <a:lstStyle/>
          <a:p>
            <a:pPr indent="0" lvl="0" marL="0" marR="0" rtl="0" algn="just">
              <a:lnSpc>
                <a:spcPct val="150000"/>
              </a:lnSpc>
              <a:spcBef>
                <a:spcPts val="1200"/>
              </a:spcBef>
              <a:spcAft>
                <a:spcPts val="0"/>
              </a:spcAft>
              <a:buNone/>
            </a:pPr>
            <a:r>
              <a:rPr b="1" lang="en" sz="1300">
                <a:highlight>
                  <a:schemeClr val="lt1"/>
                </a:highlight>
                <a:latin typeface="Play"/>
                <a:ea typeface="Play"/>
                <a:cs typeface="Play"/>
                <a:sym typeface="Play"/>
              </a:rPr>
              <a:t>Conclusion:</a:t>
            </a:r>
            <a:endParaRPr b="1" sz="1300">
              <a:highlight>
                <a:schemeClr val="lt1"/>
              </a:highlight>
              <a:latin typeface="Play"/>
              <a:ea typeface="Play"/>
              <a:cs typeface="Play"/>
              <a:sym typeface="Play"/>
            </a:endParaRPr>
          </a:p>
          <a:p>
            <a:pPr indent="-311150" lvl="0" marL="457200" rtl="0" algn="just">
              <a:lnSpc>
                <a:spcPct val="150000"/>
              </a:lnSpc>
              <a:spcBef>
                <a:spcPts val="1200"/>
              </a:spcBef>
              <a:spcAft>
                <a:spcPts val="0"/>
              </a:spcAft>
              <a:buSzPts val="1300"/>
              <a:buFont typeface="Play"/>
              <a:buChar char="•"/>
            </a:pPr>
            <a:r>
              <a:rPr lang="en" sz="1300">
                <a:highlight>
                  <a:schemeClr val="lt1"/>
                </a:highlight>
                <a:latin typeface="Play"/>
                <a:ea typeface="Play"/>
                <a:cs typeface="Play"/>
                <a:sym typeface="Play"/>
              </a:rPr>
              <a:t>A natural language command can successfully guide a robot to a target object using only vision and a semantic map</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Multiple observations improve localization — the system gets more accurate the more it sees</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The pipeline works end-to-end without any human intervention during exploration</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Label rejection remains an open problem — the system is better at finding things than knowing what doesn't exist</a:t>
            </a:r>
            <a:endParaRPr sz="1300">
              <a:highlight>
                <a:schemeClr val="lt1"/>
              </a:highlight>
              <a:latin typeface="Play"/>
              <a:ea typeface="Play"/>
              <a:cs typeface="Play"/>
              <a:sym typeface="Play"/>
            </a:endParaRPr>
          </a:p>
          <a:p>
            <a:pPr indent="0" lvl="0" marL="0" marR="0" rtl="0" algn="just">
              <a:lnSpc>
                <a:spcPct val="115000"/>
              </a:lnSpc>
              <a:spcBef>
                <a:spcPts val="1200"/>
              </a:spcBef>
              <a:spcAft>
                <a:spcPts val="1200"/>
              </a:spcAft>
              <a:buNone/>
            </a:pPr>
            <a:r>
              <a:t/>
            </a:r>
            <a:endParaRPr sz="1300">
              <a:highlight>
                <a:schemeClr val="lt1"/>
              </a:highlight>
              <a:latin typeface="Play"/>
              <a:ea typeface="Play"/>
              <a:cs typeface="Play"/>
              <a:sym typeface="Play"/>
            </a:endParaRPr>
          </a:p>
        </p:txBody>
      </p:sp>
      <p:sp>
        <p:nvSpPr>
          <p:cNvPr id="305" name="Google Shape;305;p41"/>
          <p:cNvSpPr txBox="1"/>
          <p:nvPr>
            <p:ph idx="2" type="body"/>
          </p:nvPr>
        </p:nvSpPr>
        <p:spPr>
          <a:xfrm>
            <a:off x="4807744" y="859631"/>
            <a:ext cx="3886200" cy="3263400"/>
          </a:xfrm>
          <a:prstGeom prst="rect">
            <a:avLst/>
          </a:prstGeom>
        </p:spPr>
        <p:txBody>
          <a:bodyPr anchorCtr="0" anchor="t" bIns="34275" lIns="68575" spcFirstLastPara="1" rIns="68575" wrap="square" tIns="34275">
            <a:normAutofit lnSpcReduction="10000"/>
          </a:bodyPr>
          <a:lstStyle/>
          <a:p>
            <a:pPr indent="0" lvl="0" marL="0" marR="0" rtl="0" algn="just">
              <a:lnSpc>
                <a:spcPct val="150000"/>
              </a:lnSpc>
              <a:spcBef>
                <a:spcPts val="1200"/>
              </a:spcBef>
              <a:spcAft>
                <a:spcPts val="0"/>
              </a:spcAft>
              <a:buNone/>
            </a:pPr>
            <a:r>
              <a:rPr b="1" lang="en" sz="1300">
                <a:highlight>
                  <a:schemeClr val="lt1"/>
                </a:highlight>
                <a:latin typeface="Play"/>
                <a:ea typeface="Play"/>
                <a:cs typeface="Play"/>
                <a:sym typeface="Play"/>
              </a:rPr>
              <a:t>Future Work:</a:t>
            </a:r>
            <a:endParaRPr b="1" sz="1300">
              <a:highlight>
                <a:schemeClr val="lt1"/>
              </a:highlight>
              <a:latin typeface="Play"/>
              <a:ea typeface="Play"/>
              <a:cs typeface="Play"/>
              <a:sym typeface="Play"/>
            </a:endParaRPr>
          </a:p>
          <a:p>
            <a:pPr indent="-311150" lvl="0" marL="457200" rtl="0" algn="just">
              <a:lnSpc>
                <a:spcPct val="150000"/>
              </a:lnSpc>
              <a:spcBef>
                <a:spcPts val="1200"/>
              </a:spcBef>
              <a:spcAft>
                <a:spcPts val="0"/>
              </a:spcAft>
              <a:buSzPts val="1300"/>
              <a:buFont typeface="Play"/>
              <a:buChar char="•"/>
            </a:pPr>
            <a:r>
              <a:rPr lang="en" sz="1300">
                <a:highlight>
                  <a:schemeClr val="lt1"/>
                </a:highlight>
                <a:latin typeface="Play"/>
                <a:ea typeface="Play"/>
                <a:cs typeface="Play"/>
                <a:sym typeface="Play"/>
              </a:rPr>
              <a:t>Strict label matching — reject queries that don't exactly match the map</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Fine-tune or swap detector for better confidence on simple shapes</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Benchmark against other SLAM backends (particle filter, EKF) to compare localization accuracy and runtime</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Test in larger, multi-room environments</a:t>
            </a:r>
            <a:endParaRPr sz="1300">
              <a:highlight>
                <a:schemeClr val="lt1"/>
              </a:highlight>
              <a:latin typeface="Play"/>
              <a:ea typeface="Play"/>
              <a:cs typeface="Play"/>
              <a:sym typeface="Play"/>
            </a:endParaRPr>
          </a:p>
          <a:p>
            <a:pPr indent="-311150" lvl="0" marL="457200" rtl="0" algn="just">
              <a:lnSpc>
                <a:spcPct val="150000"/>
              </a:lnSpc>
              <a:spcBef>
                <a:spcPts val="0"/>
              </a:spcBef>
              <a:spcAft>
                <a:spcPts val="0"/>
              </a:spcAft>
              <a:buSzPts val="1300"/>
              <a:buFont typeface="Play"/>
              <a:buChar char="•"/>
            </a:pPr>
            <a:r>
              <a:rPr lang="en" sz="1300">
                <a:highlight>
                  <a:schemeClr val="lt1"/>
                </a:highlight>
                <a:latin typeface="Play"/>
                <a:ea typeface="Play"/>
                <a:cs typeface="Play"/>
                <a:sym typeface="Play"/>
              </a:rPr>
              <a:t>Deploy on a real TurtleBot3 with real sensor noise</a:t>
            </a:r>
            <a:endParaRPr sz="1300">
              <a:highlight>
                <a:schemeClr val="lt1"/>
              </a:highlight>
              <a:latin typeface="Play"/>
              <a:ea typeface="Play"/>
              <a:cs typeface="Play"/>
              <a:sym typeface="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42" title="2026-04-19 21-07-19.mp4">
            <a:hlinkClick r:id="rId3"/>
          </p:cNvPr>
          <p:cNvPicPr preferRelativeResize="0"/>
          <p:nvPr/>
        </p:nvPicPr>
        <p:blipFill>
          <a:blip r:embed="rId4">
            <a:alphaModFix/>
          </a:blip>
          <a:stretch>
            <a:fillRect/>
          </a:stretch>
        </p:blipFill>
        <p:spPr>
          <a:xfrm>
            <a:off x="986000" y="815100"/>
            <a:ext cx="7441925" cy="4186075"/>
          </a:xfrm>
          <a:prstGeom prst="rect">
            <a:avLst/>
          </a:prstGeom>
          <a:noFill/>
          <a:ln>
            <a:noFill/>
          </a:ln>
          <a:effectLst>
            <a:outerShdw blurRad="57150" rotWithShape="0" algn="bl" dir="5400000" dist="19050">
              <a:srgbClr val="000000">
                <a:alpha val="50000"/>
              </a:srgbClr>
            </a:outerShdw>
          </a:effectLst>
        </p:spPr>
      </p:pic>
      <p:sp>
        <p:nvSpPr>
          <p:cNvPr id="311" name="Google Shape;311;p42"/>
          <p:cNvSpPr txBox="1"/>
          <p:nvPr>
            <p:ph type="title"/>
          </p:nvPr>
        </p:nvSpPr>
        <p:spPr>
          <a:xfrm>
            <a:off x="311700" y="242398"/>
            <a:ext cx="8520600" cy="572700"/>
          </a:xfrm>
          <a:prstGeom prst="rect">
            <a:avLst/>
          </a:prstGeom>
        </p:spPr>
        <p:txBody>
          <a:bodyPr anchorCtr="0" anchor="ctr" bIns="34275" lIns="68575" spcFirstLastPara="1" rIns="68575" wrap="square" tIns="34275">
            <a:normAutofit/>
          </a:bodyPr>
          <a:lstStyle/>
          <a:p>
            <a:pPr indent="0" lvl="0" marL="0" marR="0" rtl="0" algn="ctr">
              <a:lnSpc>
                <a:spcPct val="100000"/>
              </a:lnSpc>
              <a:spcBef>
                <a:spcPts val="800"/>
              </a:spcBef>
              <a:spcAft>
                <a:spcPts val="0"/>
              </a:spcAft>
              <a:buNone/>
            </a:pPr>
            <a:r>
              <a:rPr lang="en" sz="3000"/>
              <a:t>Appendix</a:t>
            </a:r>
            <a:endParaRPr sz="30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mich PPT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